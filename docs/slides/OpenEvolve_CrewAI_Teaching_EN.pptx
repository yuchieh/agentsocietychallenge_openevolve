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</c:v>
                </c:pt>
              </c:strCache>
            </c:strRef>
          </c:tx>
          <c:spPr>
            <a:solidFill>
              <a:srgbClr val="3A5BA0"/>
            </a:solidFill>
            <a:ln>
              <a:noFill/>
            </a:ln>
            <a:effectLst/>
          </c:spPr>
          <c:marker>
            <c:symbol val="circle"/>
            <c:size val="14"/>
            <c:spPr>
              <a:solidFill>
                <a:srgbClr val="3A5BA0"/>
              </a:solidFill>
              <a:ln w="9525" cap="flat">
                <a:solidFill>
                  <a:srgbClr val="3A5BA0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4.5</c:v>
                </c:pt>
                <c:pt idx="1">
                  <c:v>4.5</c:v>
                </c:pt>
                <c:pt idx="2">
                  <c:v>3.5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4.5</c:v>
                </c:pt>
                <c:pt idx="8">
                  <c:v>2.5</c:v>
                </c:pt>
                <c:pt idx="9">
                  <c:v>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4.5</c:v>
                </c:pt>
                <c:pt idx="1">
                  <c:v>4</c:v>
                </c:pt>
                <c:pt idx="2">
                  <c:v>4.5</c:v>
                </c:pt>
                <c:pt idx="3">
                  <c:v>3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3</c:v>
                </c:pt>
                <c:pt idx="8">
                  <c:v>5</c:v>
                </c:pt>
                <c:pt idx="9">
                  <c:v>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.5"/>
          <c:min val="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novelty →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5.5"/>
          <c:min val="1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feasibility →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combined_score</c:v>
                </c:pt>
              </c:strCache>
            </c:strRef>
          </c:tx>
          <c:spPr>
            <a:solidFill>
              <a:srgbClr val="3A5BA0"/>
            </a:solidFill>
            <a:ln w="38100" cap="flat">
              <a:solidFill>
                <a:srgbClr val="3A5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A5BA0"/>
              </a:solidFill>
              <a:ln w="9525" cap="flat">
                <a:solidFill>
                  <a:srgbClr val="3A5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it0</c:v>
                  </c:pt>
                  <c:pt idx="1">
                    <c:v>it1</c:v>
                  </c:pt>
                  <c:pt idx="2">
                    <c:v>it2</c:v>
                  </c:pt>
                  <c:pt idx="3">
                    <c:v>it3</c:v>
                  </c:pt>
                  <c:pt idx="4">
                    <c:v>it4</c:v>
                  </c:pt>
                  <c:pt idx="5">
                    <c:v>it5</c:v>
                  </c:pt>
                  <c:pt idx="6">
                    <c:v>it6</c:v>
                  </c:pt>
                  <c:pt idx="7">
                    <c:v>it7</c:v>
                  </c:pt>
                  <c:pt idx="8">
                    <c:v>it8</c:v>
                  </c:pt>
                  <c:pt idx="9">
                    <c:v>it9</c:v>
                  </c:pt>
                  <c:pt idx="10">
                    <c:v>it10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0.28</c:v>
                </c:pt>
                <c:pt idx="1">
                  <c:v>0.28</c:v>
                </c:pt>
                <c:pt idx="2">
                  <c:v>0.65</c:v>
                </c:pt>
                <c:pt idx="3">
                  <c:v>0.55</c:v>
                </c:pt>
                <c:pt idx="4">
                  <c:v>0.6</c:v>
                </c:pt>
                <c:pt idx="5">
                  <c:v>0.35</c:v>
                </c:pt>
                <c:pt idx="6">
                  <c:v>0.71</c:v>
                </c:pt>
                <c:pt idx="7">
                  <c:v>0.35</c:v>
                </c:pt>
                <c:pt idx="8">
                  <c:v>0.35</c:v>
                </c:pt>
                <c:pt idx="9">
                  <c:v>0.79</c:v>
                </c:pt>
                <c:pt idx="10">
                  <c:v>0.35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elites</c:v>
                </c:pt>
              </c:strCache>
            </c:strRef>
          </c:tx>
          <c:spPr>
            <a:solidFill>
              <a:srgbClr val="E8A33D"/>
            </a:solidFill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0.3</c:v>
                </c:pt>
                <c:pt idx="1">
                  <c:v>0.8</c:v>
                </c:pt>
                <c:pt idx="2">
                  <c:v>0.5</c:v>
                </c:pt>
                <c:pt idx="3">
                  <c:v>0.9</c:v>
                </c:pt>
                <c:pt idx="4">
                  <c:v>0.4</c:v>
                </c:pt>
                <c:pt idx="5">
                  <c:v>0.7</c:v>
                </c:pt>
                <c:pt idx="6">
                  <c:v>0.6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0.85</c:v>
                </c:pt>
                <c:pt idx="1">
                  <c:v>0.35</c:v>
                </c:pt>
                <c:pt idx="2">
                  <c:v>0.6</c:v>
                </c:pt>
                <c:pt idx="3">
                  <c:v>0.7</c:v>
                </c:pt>
                <c:pt idx="4">
                  <c:v>0.5</c:v>
                </c:pt>
                <c:pt idx="5">
                  <c:v>0.8</c:v>
                </c:pt>
                <c:pt idx="6">
                  <c:v>0.55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preference_estimation →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review_generation →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story: turning a crash-prone tool-calling system into a safely evolvable multi-agent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parts: background, the incident and taxonomy, the layered fix, trust mechanisms, engineering lessons, and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1 predicts a user's stars and review; fitness blends rating accuracy and text similarity, which often trade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CrewAI agents run sequentially; OpenEvolve's job is to optimize every facet of this pipeline, not just prompt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OpenEvolve mutates, scores and selects programs with an LLM — the core question is letting it design itself without breaking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mapped ten optimization directions; today follows the deterministic-retrieval thread, all under one constraint: rate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earlier run repeatedly crashed to the 0.35 floor whenever a prompt mutation broke tool calling.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 how tool calling can break into five failure modes, one to five — this is the backbone of the whole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fitness tells you it broke, not where it broke — a single scalar can't do credit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founding principle: freeze how a tool is called, let how it's used evolve; worst case is graceful degradation.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defenses — L0 to see it, L1 to use it safely, L2 to build it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 logs every tool call so the blind spot becomes a signal the next mutation can act on — a pure add-on.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executor clamps any illegal policy back into the legal space and never raises, so the pipeline can't crash.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Bust the misconception: a frozen whitelist is the alphabet, the policy is the sentence — the real ceiling is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Wiring turns data_retriever from a tool-caller into a text extractor, removing the crash risk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L2 lets evolution invent tools through four sandbox gates, with ReadOnlyKit funneling everything to read-only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Docstrings co-evolve because the agent reads them to decide; tools mount on the analyst, the decision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disjoint holdout exposes overfitting — a big train-minus-holdout gap means it memorized rather than generalized.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two sub-metrics as diversity dimensions so extreme specialists survive instead of being averaged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real bugs taught the maxim: a healthy score isn't correct behavior — verify the feature, not just the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L1 wiring, LLM calls per task dropped, tool-calling crashes went to zero, and coverage stabilized.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taxonomy is done; close with takeaways on safe evolution, trust mechanisms, and reading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and point to the repo and design notes for the full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openevolve_config.yaml" TargetMode="External"/><Relationship Id="rId2" Type="http://schemas.openxmlformats.org/officeDocument/2006/relationships/hyperlink" Target="https://github.com/yuchieh/AgentSocietyChallenge_OpenEvolve/blob/facfd59aceddfe0ce7f7499f93af16566d8002c2/openevolve_evaluator.py" TargetMode="External"/><Relationship Id="rId3" Type="http://schemas.openxmlformats.org/officeDocument/2006/relationships/hyperlink" Target="https://github.com/yuchieh/AgentSocietyChallenge_OpenEvolve/blob/facfd59aceddfe0ce7f7499f93af16566d8002c2/config/agents_evolving.ya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openevolve_evaluator.py#L96" TargetMode="External"/><Relationship Id="rId2" Type="http://schemas.openxmlformats.org/officeDocument/2006/relationships/hyperlink" Target="https://github.com/yuchieh/AgentSocietyChallenge_OpenEvolve/blob/facfd59aceddfe0ce7f7499f93af16566d8002c2/openevolve_evaluator.py#L106-L108" TargetMode="External"/><Relationship Id="rId3" Type="http://schemas.openxmlformats.org/officeDocument/2006/relationships/hyperlink" Target="https://github.com/yuchieh/AgentSocietyChallenge_OpenEvolve/blob/facfd59aceddfe0ce7f7499f93af16566d8002c2/openevolve_evaluator.py#L149-L151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crews/simulation_crew.py#L42" TargetMode="External"/><Relationship Id="rId2" Type="http://schemas.openxmlformats.org/officeDocument/2006/relationships/hyperlink" Target="https://github.com/yuchieh/AgentSocietyChallenge_OpenEvolve/blob/facfd59aceddfe0ce7f7499f93af16566d8002c2/src/crews/simulation_crew.py#L53" TargetMode="External"/><Relationship Id="rId3" Type="http://schemas.openxmlformats.org/officeDocument/2006/relationships/hyperlink" Target="https://github.com/yuchieh/AgentSocietyChallenge_OpenEvolve/blob/facfd59aceddfe0ce7f7499f93af16566d8002c2/src/crews/simulation_crew.py#L65" TargetMode="External"/><Relationship Id="rId4" Type="http://schemas.openxmlformats.org/officeDocument/2006/relationships/hyperlink" Target="https://github.com/yuchieh/AgentSocietyChallenge_OpenEvolve/blob/facfd59aceddfe0ce7f7499f93af16566d8002c2/src/crews/simulation_crew.py#L89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openevolve_config.yaml#L10" TargetMode="External"/><Relationship Id="rId2" Type="http://schemas.openxmlformats.org/officeDocument/2006/relationships/hyperlink" Target="https://github.com/yuchieh/AgentSocietyChallenge_OpenEvolve/blob/facfd59aceddfe0ce7f7499f93af16566d8002c2/config/openevolve_config.yaml#L18" TargetMode="External"/><Relationship Id="rId3" Type="http://schemas.openxmlformats.org/officeDocument/2006/relationships/hyperlink" Target="https://github.com/yuchieh/AgentSocietyChallenge_OpenEvolve/blob/facfd59aceddfe0ce7f7499f93af16566d8002c2/config/openevolve_config.yaml#L71-L88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chieh/AgentSocietyChallenge_OpenEvolve/blob/facfd59aceddfe0ce7f7499f93af16566d8002c2/config/openevolve_config.yaml#L32" TargetMode="External"/><Relationship Id="rId1" Type="http://schemas.openxmlformats.org/officeDocument/2006/relationships/chart" Target="/ppt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chieh/AgentSocietyChallenge_OpenEvolve/blob/facfd59aceddfe0ce7f7499f93af16566d8002c2/openevolve_evaluator.py#L133-L137" TargetMode="External"/><Relationship Id="rId3" Type="http://schemas.openxmlformats.org/officeDocument/2006/relationships/hyperlink" Target="https://github.com/yuchieh/AgentSocietyChallenge_OpenEvolve/blob/facfd59aceddfe0ce7f7499f93af16566d8002c2/openevolve_evaluator.py#L179-L184" TargetMode="External"/><Relationship Id="rId1" Type="http://schemas.openxmlformats.org/officeDocument/2006/relationships/chart" Target="/ppt/charts/chart2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interaction_tool_wrapper.py" TargetMode="External"/><Relationship Id="rId2" Type="http://schemas.openxmlformats.org/officeDocument/2006/relationships/hyperlink" Target="https://github.com/yuchieh/AgentSocietyChallenge_OpenEvolve/blob/facfd59aceddfe0ce7f7499f93af16566d8002c2/src/tools/retrieval_executor.py" TargetMode="External"/><Relationship Id="rId3" Type="http://schemas.openxmlformats.org/officeDocument/2006/relationships/hyperlink" Target="https://github.com/yuchieh/AgentSocietyChallenge_OpenEvolve/blob/facfd59aceddfe0ce7f7499f93af16566d8002c2/src/tools/tool_loader.py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28-L30" TargetMode="External"/><Relationship Id="rId2" Type="http://schemas.openxmlformats.org/officeDocument/2006/relationships/hyperlink" Target="https://github.com/yuchieh/AgentSocietyChallenge_OpenEvolve/blob/facfd59aceddfe0ce7f7499f93af16566d8002c2/config/agents_evolving.yaml#L11-L1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interaction_tool_wrapper.py" TargetMode="External"/><Relationship Id="rId2" Type="http://schemas.openxmlformats.org/officeDocument/2006/relationships/hyperlink" Target="https://github.com/yuchieh/AgentSocietyChallenge_OpenEvolve/blob/facfd59aceddfe0ce7f7499f93af16566d8002c2/src/tools/retrieval_executor.py" TargetMode="External"/><Relationship Id="rId3" Type="http://schemas.openxmlformats.org/officeDocument/2006/relationships/hyperlink" Target="https://github.com/yuchieh/AgentSocietyChallenge_OpenEvolve/blob/facfd59aceddfe0ce7f7499f93af16566d8002c2/src/tools/tool_loader.py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interaction_tool_wrapper.py#L17" TargetMode="External"/><Relationship Id="rId2" Type="http://schemas.openxmlformats.org/officeDocument/2006/relationships/hyperlink" Target="https://github.com/yuchieh/AgentSocietyChallenge_OpenEvolve/blob/facfd59aceddfe0ce7f7499f93af16566d8002c2/src/tools/interaction_tool_wrapper.py#L21" TargetMode="External"/><Relationship Id="rId3" Type="http://schemas.openxmlformats.org/officeDocument/2006/relationships/hyperlink" Target="https://github.com/yuchieh/AgentSocietyChallenge_OpenEvolve/blob/facfd59aceddfe0ce7f7499f93af16566d8002c2/src/tools/interaction_tool_wrapper.py#L26" TargetMode="External"/><Relationship Id="rId4" Type="http://schemas.openxmlformats.org/officeDocument/2006/relationships/hyperlink" Target="https://github.com/yuchieh/AgentSocietyChallenge_OpenEvolve/blob/facfd59aceddfe0ce7f7499f93af16566d8002c2/openevolve_evaluator.py#L31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44" TargetMode="External"/><Relationship Id="rId2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3" Type="http://schemas.openxmlformats.org/officeDocument/2006/relationships/hyperlink" Target="https://github.com/yuchieh/AgentSocietyChallenge_OpenEvolve/blob/facfd59aceddfe0ce7f7499f93af16566d8002c2/src/tools/retrieval_executor.py#L103" TargetMode="External"/><Relationship Id="rId4" Type="http://schemas.openxmlformats.org/officeDocument/2006/relationships/hyperlink" Target="https://github.com/yuchieh/AgentSocietyChallenge_OpenEvolve/blob/facfd59aceddfe0ce7f7499f93af16566d8002c2/src/tools/retrieval_executor.py#L140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29" TargetMode="External"/><Relationship Id="rId2" Type="http://schemas.openxmlformats.org/officeDocument/2006/relationships/hyperlink" Target="https://github.com/yuchieh/AgentSocietyChallenge_OpenEvolve/blob/facfd59aceddfe0ce7f7499f93af16566d8002c2/src/tools/retrieval_executor.py#L33-L37" TargetMode="External"/><Relationship Id="rId3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flows/serving_flow.py#L85-L93" TargetMode="External"/><Relationship Id="rId2" Type="http://schemas.openxmlformats.org/officeDocument/2006/relationships/hyperlink" Target="https://github.com/yuchieh/AgentSocietyChallenge_OpenEvolve/blob/facfd59aceddfe0ce7f7499f93af16566d8002c2/src/crews/simulation_crew.py#L42-L5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#L77" TargetMode="External"/><Relationship Id="rId2" Type="http://schemas.openxmlformats.org/officeDocument/2006/relationships/hyperlink" Target="https://github.com/yuchieh/AgentSocietyChallenge_OpenEvolve/blob/facfd59aceddfe0ce7f7499f93af16566d8002c2/src/tools/tool_loader.py#L106" TargetMode="External"/><Relationship Id="rId3" Type="http://schemas.openxmlformats.org/officeDocument/2006/relationships/hyperlink" Target="https://github.com/yuchieh/AgentSocietyChallenge_OpenEvolve/blob/facfd59aceddfe0ce7f7499f93af16566d8002c2/src/tools/tool_loader.py#L120" TargetMode="External"/><Relationship Id="rId4" Type="http://schemas.openxmlformats.org/officeDocument/2006/relationships/hyperlink" Target="https://github.com/yuchieh/AgentSocietyChallenge_OpenEvolve/blob/facfd59aceddfe0ce7f7499f93af16566d8002c2/src/tools/tool_loader.py#L156" TargetMode="External"/><Relationship Id="rId5" Type="http://schemas.openxmlformats.org/officeDocument/2006/relationships/hyperlink" Target="https://github.com/yuchieh/AgentSocietyChallenge_OpenEvolve/blob/facfd59aceddfe0ce7f7499f93af16566d8002c2/src/tools/tool_loader.py#L60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#L156-L177" TargetMode="External"/><Relationship Id="rId2" Type="http://schemas.openxmlformats.org/officeDocument/2006/relationships/hyperlink" Target="https://github.com/yuchieh/AgentSocietyChallenge_OpenEvolve/blob/facfd59aceddfe0ce7f7499f93af16566d8002c2/src/crews/simulation_crew.py#L53-L6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openevolve_evaluator.py#L83-L84" TargetMode="External"/><Relationship Id="rId2" Type="http://schemas.openxmlformats.org/officeDocument/2006/relationships/hyperlink" Target="https://github.com/yuchieh/AgentSocietyChallenge_OpenEvolve/blob/facfd59aceddfe0ce7f7499f93af16566d8002c2/scripts/validate_holdout.py#L25" TargetMode="External"/><Relationship Id="rId3" Type="http://schemas.openxmlformats.org/officeDocument/2006/relationships/hyperlink" Target="https://github.com/yuchieh/AgentSocietyChallenge_OpenEvolve/blob/facfd59aceddfe0ce7f7499f93af16566d8002c2/src/utils/create_sampled_dataset.py#L8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chieh/AgentSocietyChallenge_OpenEvolve/blob/facfd59aceddfe0ce7f7499f93af16566d8002c2/config/openevolve_config.yaml#L85-L88" TargetMode="External"/><Relationship Id="rId3" Type="http://schemas.openxmlformats.org/officeDocument/2006/relationships/hyperlink" Target="https://github.com/yuchieh/AgentSocietyChallenge_OpenEvolve/blob/facfd59aceddfe0ce7f7499f93af16566d8002c2/openevolve_evaluator.py#L47-L59" TargetMode="External"/><Relationship Id="rId4" Type="http://schemas.openxmlformats.org/officeDocument/2006/relationships/hyperlink" Target="https://github.com/yuchieh/AgentSocietyChallenge_OpenEvolve/blob/facfd59aceddfe0ce7f7499f93af16566d8002c2/openevolve_evaluator.py#L174-L177" TargetMode="External"/><Relationship Id="rId1" Type="http://schemas.openxmlformats.org/officeDocument/2006/relationships/chart" Target="/ppt/charts/chart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#L139-L146" TargetMode="External"/><Relationship Id="rId2" Type="http://schemas.openxmlformats.org/officeDocument/2006/relationships/hyperlink" Target="https://github.com/yuchieh/AgentSocietyChallenge_OpenEvolve/blob/facfd59aceddfe0ce7f7499f93af16566d8002c2/src/tools/tool_loader.py#L156-L177" TargetMode="External"/><Relationship Id="rId3" Type="http://schemas.openxmlformats.org/officeDocument/2006/relationships/hyperlink" Target="https://github.com/yuchieh/AgentSocietyChallenge_OpenEvolve/blob/facfd59aceddfe0ce7f7499f93af16566d8002c2/src/crews/simulation_crew.py#L21-L30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tests/test_retrieval_executor.py" TargetMode="External"/><Relationship Id="rId2" Type="http://schemas.openxmlformats.org/officeDocument/2006/relationships/hyperlink" Target="https://github.com/yuchieh/AgentSocietyChallenge_OpenEvolve/blob/facfd59aceddfe0ce7f7499f93af16566d8002c2/tests/test_tool_loader.p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 × CREWAI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6868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Evolving an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Agent Crew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91440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“crash-prone tool calling” to a “safely evolvable multi-agent system”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AgentSociety Challenge · Tool Calling Failure Taxonomy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points: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config/openevolve_config.yaml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config/agents_evolving.yaml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&amp; learning goals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25880" y="2304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Task, CrewAI, OpenEvolve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12064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&amp; taxonomy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120640" y="2304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layers of tool-calling failure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9244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1540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solution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915400" y="2304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/ L1 / L2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0292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32588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mechanisms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325880" y="37216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Overfitting, MAP-Elites, rate limit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29768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2628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45262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12064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lessons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120640" y="37216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bugs, one maxim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09244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32104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0"/>
          <p:cNvSpPr/>
          <p:nvPr/>
        </p:nvSpPr>
        <p:spPr>
          <a:xfrm>
            <a:off x="83210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91540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outlook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915400" y="37216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full picture, future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02920" y="48006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   </a:t>
            </a:r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evolutionary optimization applies to agent design · 5 failure layers &amp; defenses · protocol/policy split + graceful degradation · making auto-optimization trustworthy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throughout: docs/evolution_design_notes.md (full design &amp; validation record)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BACKGROUND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task: simulate user behavior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</a:t>
            </a:r>
            <a:pPr indent="0" marL="0">
              <a:buNone/>
            </a:pPr>
            <a:r>
              <a:rPr lang="en-US" sz="17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</a:t>
            </a:r>
            <a:pPr indent="0" marL="0">
              <a:buNone/>
            </a:pPr>
            <a:r>
              <a:rPr lang="en-US" sz="17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{stars, review}</a:t>
            </a:r>
            <a:pPr indent="0" marL="0">
              <a:buNone/>
            </a:pPr>
            <a:r>
              <a:rPr lang="en-US" sz="17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given user would give a given business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394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fitness is computed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overall_quality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(preference_estimation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review_generation) / 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343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preference_estimation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</a:rPr>
              <a:t> — rating accuracy (1 − normalized star MAE)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review_generation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</a:rPr>
              <a:t> — text similarity (sentiment + emotion + topic)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560320"/>
            <a:ext cx="5440680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two often trade off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92240" y="3337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“Accurate rating but plain text” vs “vivid text but off rating” — #6 later exploits this tension.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92240" y="4480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We predict not the truth, but how this user would react 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openevolve_evaluator.py:96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evaluate()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:106-108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combined_score = overall_quality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:149-151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sub-metrics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BACKGROUND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base: a 3-agent CrewAI pipeline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3291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41248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4 query types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77640" y="28346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526280" y="2377440"/>
            <a:ext cx="3291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3" name="Text 10"/>
          <p:cNvSpPr/>
          <p:nvPr/>
        </p:nvSpPr>
        <p:spPr>
          <a:xfrm>
            <a:off x="4727448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psychological_analyst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727448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preference / habits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63840" y="28346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8412480" y="2377440"/>
            <a:ext cx="3291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12480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8" name="Text 15"/>
          <p:cNvSpPr/>
          <p:nvPr/>
        </p:nvSpPr>
        <p:spPr>
          <a:xfrm>
            <a:off x="8613648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behavior_simulator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613648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{stars, review}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Process.sequential — each agent’s output is the next one’s context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OpenEvolve’s job: not just evolve prompt text, but optimize every facet of this pipeline — tool use, task design, even topology.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src/crews/simulation_crew.py:42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data_retriever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analyst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:65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behavior_simulator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:89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crew(Process.sequential)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BACKGROUND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OpenEvolve: evolving programs with an LLM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take on Google AlphaEvolve — repeated “mutate → score → select”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697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parent from the pool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2112" y="2834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3520440" y="24688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49040" y="2697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37490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34340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74904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mutates the program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62472" y="2834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6400800" y="24688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29400" y="2697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22376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2940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scores it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942832" y="2834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9281160" y="24688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509760" y="2697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4"/>
          <p:cNvSpPr/>
          <p:nvPr/>
        </p:nvSpPr>
        <p:spPr>
          <a:xfrm>
            <a:off x="95097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10412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50976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MAP-Elites keeps elites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  </a:t>
            </a:r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MAP-Elites archive · island model · EVOLVE-BLOCK markers · combined_score as fitness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question: how to let the system “design itself” — without letting it break itself?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config/openevolve_config.yaml:10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max_iterations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diff_based_evolution:false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:71-88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database(islands/MAP-Elites)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BACKGROUND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directions to optimize (novelty × feasibility)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406640" y="1783080"/>
            <a:ext cx="42519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63524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main thread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635240" y="25146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 deterministic retrieval  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23272E"/>
                </a:solidFill>
              </a:rPr>
              <a:t>→ landed via L1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 Train/Val split  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 MAP-Elites dimensions  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635240" y="4114800"/>
            <a:ext cx="37947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7"/>
          <p:cNvSpPr/>
          <p:nvPr/>
        </p:nvSpPr>
        <p:spPr>
          <a:xfrm>
            <a:off x="7635240" y="42976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constraint  </a:t>
            </a:r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rate limit — the earlier run had </a:t>
            </a:r>
            <a:pPr indent="0" marL="0">
              <a:buNone/>
            </a:pPr>
            <a:r>
              <a:rPr lang="en-US" sz="13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iterations fail</a:t>
            </a:r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Anything that cuts LLM calls has double value.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 §2 (10 directions) · §10 rate-limit defenses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openevolve_config.yaml:32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retries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INCIDENT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crash site: evolution broke the system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earlier run, a mutation to the agent prompt broke tool calling → the whole pipeline crashed</a:t>
            </a:r>
            <a:endParaRPr lang="en-US" sz="15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377440"/>
          <a:ext cx="7315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8138160" y="2468880"/>
            <a:ext cx="352044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32104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0.35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36676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score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366760" y="411480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iterations keep hitting this floor — one broken tool call and the whole prediction flow collapses.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openevolve_evaluator.py:133-137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timeout fallback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:179-184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 fallback (both return _result(0.0))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INCIDENT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Calling Failure Taxonomy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109728" cy="786384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69164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828800" y="169164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protocol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0" y="1691640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text format broken → parser misses it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606040"/>
            <a:ext cx="109728" cy="78638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60604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828800" y="260604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 correctness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29200" y="2606040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query_type made up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52044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520440"/>
            <a:ext cx="109728" cy="78638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52044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828800" y="352044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strategy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29200" y="3520440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“skip the query, just guess”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443484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4434840"/>
            <a:ext cx="109728" cy="786384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43484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828800" y="443484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digestion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029200" y="4434840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sample thousands of reviews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48640" y="534924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48640" y="5349240"/>
            <a:ext cx="109728" cy="786384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" y="534924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1828800" y="534924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Downstream contract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029200" y="5349240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structure mangled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48640" y="62179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only ① was protected (tasks.yaml frozen); ②–⑤ were exposed — this is the backbone of the talk (the defenses use L0/L1/L2; don’t confuse them with these 5 layers).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 §3 (5-layer table) · defenses: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interaction_tool_wrapper.py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68680" y="219456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tells you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“broke” — not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“where it broke”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why some seemingly harmless mutations cause crashes — a single scalar score can’t do credit assignment.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 §3 (key insight) — the fix is L0: turn the blind spot into signal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PRINCIPLE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principle: separate protocol from policy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109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109728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011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layer — frozen, machine-verified, code-enforced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606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 tool is called”: function signature, parameter schema, call format, return format, registration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11109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749040"/>
            <a:ext cx="109728" cy="1737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931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layer — freely evolved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4526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 tool is used”: what to fetch, how much, when, how to digest results, even “what new tool is needed”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constitution  </a:t>
            </a:r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graceful degradation, never a catastrophic crash.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Protocol: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retrieval_executor.py:28-30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ALLOWED_QUERIES/STRATEGIES (frozen) ｜ Policy: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config/agents_evolving.yaml:11-16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retrieval_policy (evolved)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SOLUTION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solution: L0 → L1 → L2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109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167128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63040" y="2441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749040" y="1783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observability — turn blind spots into signal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11109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584448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630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463040" y="3858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safely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749040" y="32004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tool calling away from the LLM → deterministic executor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640" y="4617720"/>
            <a:ext cx="11109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68680" y="5001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63040" y="4800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463040" y="5276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safely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749040" y="46177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evolution invent new tools — a four-gate sandbox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548640" y="61081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obeys the same constitution: worst case is a low score, not a crash.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interaction_tool_wrapper.py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L1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L2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(all in src/tools/)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L0: tool-call observability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E2761"/>
                </a:solidFill>
              </a:rPr>
              <a:t>thread-safe call log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each path records (query_type, ok)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E2761"/>
                </a:solidFill>
              </a:rPr>
              <a:t>evaluator rolls it up into artifacts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total_calls / coverage / missing_essential …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754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mutation’s prompt can see diagnostics like “missing_essential: [user]”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349240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it’s the foundation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83680" y="2560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L0, L1’s clamp and L2’s quarantine are invisible — you’re flying blind.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83680" y="4114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observability add-on / env-var opt-in — default behavior unchanged bit-for-bit.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interaction_tool_wrapper.py:17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_TOOL_CALL_LOG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:21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_record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:26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drain_tool_log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openevolve_evaluator.py:31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_summarize_tool_use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L1: take tool calling out of the LLM’s hands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side declares </a:t>
            </a:r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retrieval_policy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(what to fetch, sampling, truncation); the frozen executor interprets 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486400" cy="374904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6974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retrieval_policy: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queries: [user, item,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review_by_user]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review_sampling: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strategy: recent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k: 15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max_chars_per_result: 6000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2377440"/>
            <a:ext cx="5349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clamp, don't reject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83680" y="31089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Project illegal values back into the legal space,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9E6B"/>
                </a:solidFill>
              </a:rPr>
              <a:t>never raise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k=999999 → 50 · bogus query → filtered · all garbage → default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degrade to baseline retrieval; the pipeline never crashes.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src/tools/retrieval_executor.py:44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_clamp_int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normalize_policy (clamp)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:103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_sample_reviews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:140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execute_policy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misconception: a whitelist ≠ no room to evolve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11099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ALLOWED_QUERIES</a:t>
            </a:r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FFFFFF"/>
                </a:solidFill>
              </a:rPr>
              <a:t> = the alphabet (what is permitted)   frozen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retrieval_policy</a:t>
            </a:r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FFFFFF"/>
                </a:solidFill>
              </a:rPr>
              <a:t> = a sentence built from that alphabet (what is chosen)   evolved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letters are fixed, yet you can write infinitely many sentences. Under the same whitelist, different policies (which subset, what order, sampling, k, truncation) feed wildly different context downstream.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4663440"/>
            <a:ext cx="11109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ceiling is the dataset</a:t>
            </a:r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(only user / item / review — three tables), not the whitelist, which merely mirrors the data boundary.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src/tools/retrieval_executor.py:29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ALLOWED_QUERIES (alphabet)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:33-37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DEFAULT_POLICY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normalize_policy (compose sentence)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Wiring: data_retriever from “caller” to “extractor”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440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[has tool]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LLM calls wrapper ×4 (text format)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assembles a summary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is the LLM — the crash-prone kind.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011680"/>
            <a:ext cx="544068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92240" y="28803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executor: deterministic retrieval (pre-crew)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 ↓ retrieved_context injected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[no tool]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 ↓ just extracts {retrieved_context}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9224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pure-text task — can’t crash on tool calling.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src/flows/serving_flow.py:85-93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execute_policy → inject retrieved_context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simulation_crew.py:42-50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data_retriever has no tools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L2: let evolution invent tools — a four-gate sandbox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fixed (3 tables) → a “new tool” = bounded feature engineering, not unbounded code generation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25786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 safety scan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30358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import / open / exec / dunder escapes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37744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28232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642823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040880" y="25786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check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040880" y="30358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tool_* + (kit, user_id, item_id)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4672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17320" y="4178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trial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17320" y="46360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timeout; bad tools silently dropped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172200" y="397764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28232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42823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040880" y="4178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 &amp; register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40880" y="46360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→ the tool description the agent sees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57150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ReadOnlyKit  </a:t>
            </a:r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only get_user / get_item / get_reviews — everything funnels to read-only data; no filesystem / network / ground truth.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src/tools/tool_loader.py:77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ast_safety_scan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:106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signature_ok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:120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trial_run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:156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_wrap_as_crewai_tool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:60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ReadOnlyKit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docstring co-evolution + tools at the “decision point”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docstring co-evolution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docstring quality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agent calls / doesn’t call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info enters reasoning or not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combined_score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OpenEvolve selection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gene survives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tool’s “discoverability” is under evolutionary pressure too.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349240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Mounted on psychological_analyst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data point → decision point → output point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Tools go where judgment happens.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0" y="3657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data_retriever?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reintroduce the crash risk L1 just removed · muddy responsibilities · too early (no analysis context yet)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src/tools/tool_loader.py:156-177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_wrap_as_crewai_tool (docstring→description)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simulation_crew.py:53-62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analyst tools=_load_analyst_tools()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TRUST MECHANISMS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#7 Train / Val split: the overfitting mirror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“memorizes the answers” — specializes to those train tasks without generalizing. A disjoint holdout catches it.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5440680" cy="329184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 (false champion)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 0.90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holdout  0.40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b="1" dirty="0">
                <a:solidFill>
                  <a:srgbClr val="C0453B"/>
                </a:solidFill>
              </a:rPr>
              <a:t>gap 0.50 → 🚨 alarm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2468880"/>
            <a:ext cx="5440680" cy="329184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Generalizes (trustworthy)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2240" y="3291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 0.75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holdout  0.72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b="1" dirty="0">
                <a:solidFill>
                  <a:srgbClr val="2E9E6B"/>
                </a:solidFill>
              </a:rPr>
              <a:t>gap 0.03 → ✅ really learned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validate-holdout — disjoint verified, overlap = 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openevolve_evaluator.py:83-84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OPENEVOLVE_TASK_DIR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scripts/validate_holdout.py:25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 to holdout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create_sampled_dataset.py:8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disjoint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TRUST MECHANISMS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 MAP-Elites custom dimensions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combined_score squashes two extreme specialists to a mediocre middle. Use the two sub-metrics as diversity dimensions instead.</a:t>
            </a:r>
            <a:endParaRPr lang="en-US" sz="14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37744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6858000" y="2468880"/>
            <a:ext cx="480060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13232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vs feature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132320" y="32004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combined_score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decides who wins (fitness)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preference × review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only sets coordinates (diversity)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132320" y="4846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elites across the trade-off frontier and breeds hybrids.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config/openevolve_config.yaml:85-88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feature_dimensions (8×8)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openevolve_evaluator.py:47-59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_result(extra_metrics)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:174-177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ENGINEERING LESSONS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real bugs, one maxim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#1 — __import__ in the restricted sandbox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__import__ broke even the whitelisted `import statistics`. Defense in depth must leave a “safe door”.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49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#2 — @tool needs a docstring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0" y="2514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combined_score=0.8452 looked perfect, but agent.tools == [] — the tools never attached.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114800"/>
            <a:ext cx="111099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4343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A healthy score ≠ correct behavior ”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86868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disguises “tools never attached” as “score looks fine”. Verify the feature itself (the tools list), not just the score.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tool_loader.py:139-146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_safe_import (bug#1) ·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:156-177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docstring transfer (bug#2) ·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simulation_crew.py:21-30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graceful [] hides the failure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RESULTS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 after L1 wiring: the stability shift</a:t>
            </a:r>
            <a:endParaRPr lang="en-US" sz="2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109960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Metric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Before (earlier run)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After L1 wiring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calls per task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~7 (incl. ReAct round-trips)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tool-calling crashes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many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tool_use coverage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unstable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stable 1.0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 rate limit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59 times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greatly reduced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521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runs: </a:t>
            </a:r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v1 best 0.79 · earlier run best 0.64 (rate-limit hit) · L1 validation 0.78 · 46 unit tests all green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 §12.4 (before/after) · §12.3 (evolution-run history)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RESULTS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picture + key takeaways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65760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Taxonomy progress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L0  observability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L1  clamp + wiring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#7  Train-Val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#6  MAP-Elites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L2  tool generation</a:t>
            </a:r>
            <a:endParaRPr lang="en-US" sz="13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⬜ Tier C  RagTool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7223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0848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257800" y="1828800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can design agents, but must be stopped from breaking itself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434840" y="2926080"/>
            <a:ext cx="7223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318211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57800" y="2926080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Protocol/policy split + graceful degradation = safely-evolvable terrain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434840" y="4023360"/>
            <a:ext cx="7223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427939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257800" y="4023360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Auto-optimization needs trust mechanisms (holdout, MAP-Elites) to avoid self-deception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434840" y="5120640"/>
            <a:ext cx="7223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53766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257800" y="5120640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score ≠ correct behavior; don’t trust docs, read the source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docs/evolution_design_notes.md §11 (progress &amp; PRs) · §12.7 (full-architecture data: baseline 0.72 → best 0.842)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· Q &amp; A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3657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  </a:t>
            </a:r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github.com/yuchieh/AgentSocietyChallenge_OpenEvolve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  </a:t>
            </a:r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docs/evolution_design_notes.md · docs/student_integration_guide.md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tests/test_retrieval_executor.py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tests/test_tool_loader.py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(46 green) · docs/evolution_design_notes.md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Evolving an LLM Agent Crew with OpenEvolve</dc:title>
  <dc:subject>PptxGenJS Presentation</dc:subject>
  <dc:creator>AgentSocietyChallenge_OpenEvolve</dc:creator>
  <cp:lastModifiedBy>AgentSocietyChallenge_OpenEvolve</cp:lastModifiedBy>
  <cp:revision>1</cp:revision>
  <dcterms:created xsi:type="dcterms:W3CDTF">2026-06-16T01:04:02Z</dcterms:created>
  <dcterms:modified xsi:type="dcterms:W3CDTF">2026-06-16T01:04:02Z</dcterms:modified>
</cp:coreProperties>
</file>