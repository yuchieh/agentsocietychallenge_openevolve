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45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× CLAUDE CODE × OPENEVOLVE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68680" y="20574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三層 AI 協作工作流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14400" y="3520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當 AI 也在指揮另一個 AI——我如何把自主性一層層往下委派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914400" y="4754880"/>
            <a:ext cx="2560320" cy="731520"/>
          </a:xfrm>
          <a:prstGeom prst="roundRect">
            <a:avLst>
              <a:gd name="adj" fmla="val 12500"/>
            </a:avLst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47548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520440" y="4754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4754880"/>
            <a:ext cx="2560320" cy="731520"/>
          </a:xfrm>
          <a:prstGeom prst="roundRect">
            <a:avLst>
              <a:gd name="adj" fmla="val 12500"/>
            </a:avLst>
          </a:prstGeom>
          <a:solidFill>
            <a:srgbClr val="3A5BA0"/>
          </a:solidFill>
          <a:ln/>
        </p:spPr>
      </p:sp>
      <p:sp>
        <p:nvSpPr>
          <p:cNvPr id="10" name="Text 8"/>
          <p:cNvSpPr/>
          <p:nvPr/>
        </p:nvSpPr>
        <p:spPr>
          <a:xfrm>
            <a:off x="4297680" y="47548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903720" y="4754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680960" y="4754880"/>
            <a:ext cx="2560320" cy="731520"/>
          </a:xfrm>
          <a:prstGeom prst="roundRect">
            <a:avLst>
              <a:gd name="adj" fmla="val 125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7680960" y="47548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一場關於「人 + AI + 進化」安全協作的分享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三層對應：我→config/*.yaml ｜ Claude→src/ + tests/ ｜ OpenEvolve→EVOLVE-BLOCK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一個不尋常的協作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這個專案裡，有三個「智能體」在協作——不是一個人用一個工具。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834640"/>
            <a:ext cx="11109960" cy="182880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315468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💬 想一個問題：</a:t>
            </a:r>
            <a:endParaRPr lang="en-US" sz="24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你用 AI 時，是「你 + 工具」，</a:t>
            </a:r>
            <a:pPr indent="0" marL="0">
              <a:lnSpc>
                <a:spcPts val="3800"/>
              </a:lnSpc>
              <a:buNone/>
            </a:pPr>
            <a:r>
              <a:rPr lang="en-US" sz="2400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還是「你 + 一個會自己做決定的夥伴」？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這場分享，是後者——而且夥伴還帶著它自己的夥伴。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三個智能體：我（決策）· Claude（src/ 實作）· OpenEvolve（evolvable_tools.py:18 EVOLVE-BLOCK 內突變）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議程與學習目標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3566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25880" y="19202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協作架構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25880" y="230428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三層嵌套 · 自主 vs 護欄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737360"/>
            <a:ext cx="3566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120640" y="19202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角色職責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20640" y="230428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 / Claude / OpenEvolve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92440" y="1737360"/>
            <a:ext cx="3566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915400" y="19202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五個協作模式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915400" y="230428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可遷移到你的專案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3154680"/>
            <a:ext cx="3566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33832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25880" y="3337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高潮案例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325880" y="372160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iter22 的誕生與之後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297680" y="3154680"/>
            <a:ext cx="3566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26280" y="33832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452628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120640" y="3337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反思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120640" y="372160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什麼該誰做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092440" y="3154680"/>
            <a:ext cx="3566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21040" y="33832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832104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915400" y="3337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結語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915400" y="372160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帶走一套工作流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480060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我想帶給你的　</a:t>
            </a:r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認識多層 AI 協作架構 · 學會配置「自主 vs 護欄」· 帶走 5 個協作模式 · 一條判準：什麼我做、什麼交給 AI、什麼交給進化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完整文字：docs/collaboration_workflow_outline.md ｜ 技術細節：docs/evolution_design_notes.md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三個角色登場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11680"/>
            <a:ext cx="3520440" cy="128016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我（Human）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2834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本場講者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338328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設方向 · 做決策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提問 · 把關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70832" y="201168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70832" y="2011680"/>
            <a:ext cx="3520440" cy="128016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2" name="Text 10"/>
          <p:cNvSpPr/>
          <p:nvPr/>
        </p:nvSpPr>
        <p:spPr>
          <a:xfrm>
            <a:off x="4599432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99432" y="2834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我的實作夥伴（AI）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99432" y="338328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 · 驗證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 · 誠實報告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93024" y="201168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93024" y="2011680"/>
            <a:ext cx="3520440" cy="12801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8421624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 的 LLM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21624" y="2834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駕馭的探索者（AI）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421624" y="338328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自主突變 · 發明工具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探索進化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關鍵：後兩者都是 AI，但角色完全不同；我站在最外層指揮。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我+Claude 寫 config/agents.yaml（正式）· config/agents_evolving.yaml（種子）｜ OpenEvolve 改 evolvable_tools.py:18-58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三層嵌套：委派自主性的鏈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3246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377440"/>
            <a:ext cx="3246120" cy="109728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7889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我（Human）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3832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意圖 / 決策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886200" y="2743200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指揮 ▶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26280" y="2377440"/>
            <a:ext cx="3246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2377440"/>
            <a:ext cx="324612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27889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54880" y="33832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 / 判斷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0" y="2743200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指揮 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412480" y="2377440"/>
            <a:ext cx="3246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12480" y="2377440"/>
            <a:ext cx="3246120" cy="1097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8641080" y="27889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 LLM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41080" y="33832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自主探索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0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自主程度越往右越高　|　護欄也要越往右越強 →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這不是「我用工具」，是「我把自主性一層層往下委派」的三層鏈。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我→config/*.yaml ｜ Claude→src/tools/ + src/crews/ + src/flows/ ｜ OpenEvolve→agents_evolving.yaml:1-44 EVOLVE-BLOCK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× OpenEvolve：架構師 vs 探勘者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94960" cy="1783080"/>
          </a:xfrm>
          <a:prstGeom prst="rect">
            <a:avLst/>
          </a:prstGeom>
          <a:solidFill>
            <a:srgbClr val="EAF0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83080"/>
            <a:ext cx="109728" cy="1783080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965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Claude＝架構師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24231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有意圖的設計 · 知道「為什麼」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少量 · 高槓桿 · 可解釋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394960" cy="1783080"/>
          </a:xfrm>
          <a:prstGeom prst="rect">
            <a:avLst/>
          </a:prstGeom>
          <a:solidFill>
            <a:srgbClr val="FBF1E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63640" y="1783080"/>
            <a:ext cx="109728" cy="17830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965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OpenEvolve＝探勘者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7960" y="24231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無意圖的突變 + 篩選 · 只知「是什麼」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 · 低槓桿 · 靠數量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977640"/>
            <a:ext cx="3291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4160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 設計搜尋空間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46177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可進化範圍 + 護欄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858768" y="425196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4434840" y="3977640"/>
            <a:ext cx="3291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17720" y="4160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 大規模探索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617720" y="46177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iter22 · 8 次崩潰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744968" y="425196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8321040" y="3977640"/>
            <a:ext cx="3291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503920" y="4160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 分析與調整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503920" y="46177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診斷 → 改框架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553212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下一輪：用發現調整搜尋空間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94360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不是誰比較強，是不同物種、各補一塊——Claude 會精準設計但不會盲搜，OpenEvolve 會盲搜但不懂自己找到了什麼。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搭框架 src/tools/tool_loader.py（77 AST / 120 沙箱）· OpenEvolve 在 evolvable_tools.py:18-58 EVOLVE-BLOCK 內探索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每層的「自主 vs 護欄」</a:t>
            </a:r>
            <a:endParaRPr lang="en-US" sz="2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108960"/>
                <a:gridCol w="52578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層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自主做什麼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護欄是什麼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2E9E6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我（Human）</a:t>
                      </a:r>
                      <a:endParaRPr lang="en-US" sz="14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最終決策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自己的判斷、領域知識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3A5BA0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Claude</a:t>
                      </a:r>
                      <a:endParaRPr lang="en-US" sz="14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實作 + 分析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我的 review、git PR flow、誠實回報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E8A3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OpenEvolve LLM</a:t>
                      </a:r>
                      <a:endParaRPr lang="en-US" sz="14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突變 + 發明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Taxonomy（clamp / sandbox）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40680"/>
            <a:ext cx="11109960" cy="86868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54406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金句：我越是放手讓它自主，越要先建好「最壞只是退化、不是崩潰」的護欄。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護欄落地：retrieval_executor.py:53 normalize_policy（clamp）· tool_loader.py:77-177（AST→沙箱→包裝）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協作循環：每個 PR、每個實驗都走一遍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992624" y="1851660"/>
            <a:ext cx="21945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992624" y="1851660"/>
            <a:ext cx="91440" cy="77724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5157216" y="185166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我的意圖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427726" y="2925779"/>
            <a:ext cx="21945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427726" y="2925779"/>
            <a:ext cx="91440" cy="777240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0" name="Text 8"/>
          <p:cNvSpPr/>
          <p:nvPr/>
        </p:nvSpPr>
        <p:spPr>
          <a:xfrm>
            <a:off x="8592318" y="2925779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實作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7115634" y="4663741"/>
            <a:ext cx="21945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115634" y="4663741"/>
            <a:ext cx="91440" cy="777240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3" name="Text 11"/>
          <p:cNvSpPr/>
          <p:nvPr/>
        </p:nvSpPr>
        <p:spPr>
          <a:xfrm>
            <a:off x="7280226" y="4663741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驗證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2869614" y="4663741"/>
            <a:ext cx="21945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869614" y="4663741"/>
            <a:ext cx="91440" cy="777240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6" name="Text 14"/>
          <p:cNvSpPr/>
          <p:nvPr/>
        </p:nvSpPr>
        <p:spPr>
          <a:xfrm>
            <a:off x="3034206" y="4663741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誠實報告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1557522" y="2925779"/>
            <a:ext cx="21945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557522" y="2925779"/>
            <a:ext cx="91440" cy="77724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9" name="Text 17"/>
          <p:cNvSpPr/>
          <p:nvPr/>
        </p:nvSpPr>
        <p:spPr>
          <a:xfrm>
            <a:off x="1722114" y="2925779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我決策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541264" y="32004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↻</a:t>
            </a:r>
            <a:endParaRPr lang="en-US" sz="5000" dirty="0"/>
          </a:p>
        </p:txBody>
      </p:sp>
      <p:sp>
        <p:nvSpPr>
          <p:cNvPr id="21" name="Text 19"/>
          <p:cNvSpPr/>
          <p:nvPr/>
        </p:nvSpPr>
        <p:spPr>
          <a:xfrm>
            <a:off x="5175504" y="4251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（下一輪意圖）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工作流見 CLAUDE.md「Git 工作流程」(main 只接受 PR) · 已落地 PR 對照 docs/evolution_design_notes.md §11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為什麼這個架構值得學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68680" y="210312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越來越會</a:t>
            </a:r>
            <a:endParaRPr lang="en-US" sz="38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「使用其他 AI / 工具」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914400" y="42976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協作不再是單層。我想用這個專案示範：如何安全地把自主性一層層往下委派。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整體目標見 docs/evolution_design_notes.md §1（背景與目標）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角色職責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我的角色：方向盤與煞車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109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83080"/>
            <a:ext cx="109728" cy="786384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783080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設方向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840480" y="1783080"/>
            <a:ext cx="7680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「優化 agent crew 的各個面向」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697480"/>
            <a:ext cx="11109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2697480"/>
            <a:ext cx="109728" cy="786384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697480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做不可逆決策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840480" y="2697480"/>
            <a:ext cx="7680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要不要 merge、跑哪個實驗、改不改系統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611880"/>
            <a:ext cx="11109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611880"/>
            <a:ext cx="109728" cy="786384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611880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提問挑戰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840480" y="3611880"/>
            <a:ext cx="7680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用問題驅動設計深化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4526280"/>
            <a:ext cx="11109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4526280"/>
            <a:ext cx="109728" cy="786384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4526280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把關流程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840480" y="4526280"/>
            <a:ext cx="7680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堅持 git PR flow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48640" y="553212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真實例子：我堅持「main 只接受 PR」——有次 Claude 忘了開分支，被我當場糾正、立刻改回。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規則寫在 CLAUDE.md「Git 工作流程：main 只接受 PR merge，不直接 commit」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角色職責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的角色：實作與判斷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892808"/>
            <a:ext cx="146304" cy="146304"/>
          </a:xfrm>
          <a:prstGeom prst="ellipse">
            <a:avLst/>
          </a:prstGeom>
          <a:solidFill>
            <a:srgbClr val="3A5BA0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783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把我的意圖轉成程式碼 + 測試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642616"/>
            <a:ext cx="146304" cy="146304"/>
          </a:xfrm>
          <a:prstGeom prst="ellipse">
            <a:avLst/>
          </a:prstGeom>
          <a:solidFill>
            <a:srgbClr val="3A5BA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53288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讀原始碼「驗證」——不盡信文件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392424"/>
            <a:ext cx="146304" cy="146304"/>
          </a:xfrm>
          <a:prstGeom prst="ellipse">
            <a:avLst/>
          </a:prstGeom>
          <a:solidFill>
            <a:srgbClr val="3A5BA0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82696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跑實驗、分析數據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142232"/>
            <a:ext cx="146304" cy="146304"/>
          </a:xfrm>
          <a:prstGeom prst="ellipse">
            <a:avLst/>
          </a:prstGeom>
          <a:solidFill>
            <a:srgbClr val="3A5BA0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403250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誠實報告——主動揭露 bug 與限制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4892040"/>
            <a:ext cx="146304" cy="146304"/>
          </a:xfrm>
          <a:prstGeom prst="ellipse">
            <a:avLst/>
          </a:prstGeom>
          <a:solidFill>
            <a:srgbClr val="3A5BA0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782312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維護文件 / PR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48640" y="5577840"/>
            <a:ext cx="11109960" cy="86868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55778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真實例子：Claude 讀 OpenEvolve 原始碼，發現「EVOLVE-BLOCK 恰好一個」其實是建議、不是硬限制。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讀碼結論記在 docs/evolution_design_notes.md §9（EVOLVE-BLOCK 機制的真相：parse_evolve_blocks 從未被呼叫）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角色職責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 的角色：自主探索者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 Claude 搭的安全框架內 </a:t>
            </a:r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自主突變</a:t>
            </a:r>
            <a:pPr indent="0" marL="0">
              <a:buNone/>
            </a:pPr>
            <a:r>
              <a:rPr lang="en-US" sz="18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agent prompt；發明新工具、探索進化路徑。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11109960" cy="2194560"/>
          </a:xfrm>
          <a:prstGeom prst="rect">
            <a:avLst/>
          </a:prstGeom>
          <a:solidFill>
            <a:srgbClr val="FBF1E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743200"/>
            <a:ext cx="109728" cy="219456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9260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真實例子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342900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它自己進化出「按 user_std 切 4 段的評分預測公式」——沒人教它，連我和 Claude 都沒寫過。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它能「找到」，但它不知道自己找到了什麼——這正是探勘者與架構師的分界。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進化空間：config/agents_evolving.yaml:1-44 EVOLVE-BLOCK（prompt）+ evolvable_tools.py:18-58（工具）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角色職責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三者互補，缺一不可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109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920240"/>
            <a:ext cx="109728" cy="109728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只有我（Human）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663440" y="19202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沒時間 / 精力做完所有實作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11109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3200400"/>
            <a:ext cx="109728" cy="1097280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只有 Claude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63440" y="320040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缺方向與最終判斷、會做出不可逆錯誤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480560"/>
            <a:ext cx="11109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4480560"/>
            <a:ext cx="109728" cy="10972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448056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只有 OpenEvolve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663440" y="448056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會把自己改崩潰（v3 的 36% 失敗）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三層各補一塊——缺了我這一層，就沒方向。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「v3 的 36% 崩潰 → 完整架構 0 次」對照見 docs/evolution_design_notes.md §12.7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Pattern 1：提問深化設計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94960" cy="4114800"/>
          </a:xfrm>
          <a:prstGeom prst="rect">
            <a:avLst/>
          </a:prstGeom>
          <a:solidFill>
            <a:srgbClr val="EAF0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011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我問的好問題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468880"/>
            <a:ext cx="4892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「怎麼讓 agent 安全地進化、用不同工具、甚至創造新工具，而不會在 tool calling 上崩潰？」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493776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我問的不是「幫我修 bug」，而是一個往深處逼的設計問題。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1783080"/>
            <a:ext cx="54406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逼出來的好答案：失敗分類學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2514600"/>
            <a:ext cx="4983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Claude 沒直接寫 try/except，而是先分層：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5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L1 協定 · L2 參數 · L3 策略 · L4 消化 · L5 合約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→ 安全憲法：graceful degradation, not crash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→ 落地：L0 觀測 + L1 clamp + L2 sandbox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5212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成果　</a:t>
            </a:r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工具崩潰率 v3 的 36% → 0 次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" y="60350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好問題的價值高於好答案——是我「往深處問」，把一個隨手的修補逼成可遷移的分層框架。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層分類學 docs/evolution_design_notes.md §3 ｜ 落地 src/tools/{interaction_tool_wrapper,retrieval_executor,tool_loader}.py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Pattern 2：誠實回報，主動抓 bug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440680" cy="310896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看似完美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6517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1600" b="1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combined_score</a:t>
            </a:r>
            <a:endParaRPr lang="en-US" sz="16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0.8452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42976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分數漂亮，沒人會起疑。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1920240"/>
            <a:ext cx="5440680" cy="310896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主動驗證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265176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23272E"/>
                </a:solidFill>
              </a:rPr>
              <a:t>直接查 </a:t>
            </a:r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agent.tools</a:t>
            </a:r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23272E"/>
                </a:solidFill>
              </a:rPr>
              <a:t> → 發現是 </a:t>
            </a:r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[]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23272E"/>
                </a:solidFill>
              </a:rPr>
              <a:t>工具根本沒裝上！揭露 + 補回歸測試。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109960" cy="123444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512064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 分數健康 ≠ 功能正確 ”　AI 的誠實性，是協作的地基。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成因 simulation_crew.py:21-30 graceful [] 蓋住失敗 · 修正 tool_loader.py:164 · 回歸測試 tests/test_tool_loader.py:185-203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Pattern 3：我把關不可逆操作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先問我，再做——不擅自執行不可逆動作。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651760"/>
            <a:ext cx="91440" cy="868680"/>
          </a:xfrm>
          <a:prstGeom prst="rect">
            <a:avLst/>
          </a:prstGeom>
          <a:solidFill>
            <a:srgbClr val="C0453B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6517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 PR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43400" y="265176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2651760"/>
            <a:ext cx="91440" cy="868680"/>
          </a:xfrm>
          <a:prstGeom prst="rect">
            <a:avLst/>
          </a:prstGeom>
          <a:solidFill>
            <a:srgbClr val="C0453B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6517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跑 4 小時實驗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138160" y="265176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138160" y="2651760"/>
            <a:ext cx="91440" cy="868680"/>
          </a:xfrm>
          <a:prstGeom prst="rect">
            <a:avLst/>
          </a:prstGeom>
          <a:solidFill>
            <a:srgbClr val="C0453B"/>
          </a:solidFill>
          <a:ln/>
        </p:spPr>
      </p:sp>
      <p:sp>
        <p:nvSpPr>
          <p:cNvPr id="14" name="Text 12"/>
          <p:cNvSpPr/>
          <p:nvPr/>
        </p:nvSpPr>
        <p:spPr>
          <a:xfrm>
            <a:off x="8366760" y="26517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install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74904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749040"/>
            <a:ext cx="91440" cy="868680"/>
          </a:xfrm>
          <a:prstGeom prst="rect">
            <a:avLst/>
          </a:prstGeom>
          <a:solidFill>
            <a:srgbClr val="C0453B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490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改系統設定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343400" y="374904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43400" y="3749040"/>
            <a:ext cx="91440" cy="868680"/>
          </a:xfrm>
          <a:prstGeom prst="rect">
            <a:avLst/>
          </a:prstGeom>
          <a:solidFill>
            <a:srgbClr val="C0453B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0" y="37490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建新 GitHub repo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138160" y="374904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8160" y="3749040"/>
            <a:ext cx="91440" cy="868680"/>
          </a:xfrm>
          <a:prstGeom prst="rect">
            <a:avLst/>
          </a:prstGeom>
          <a:solidFill>
            <a:srgbClr val="C0453B"/>
          </a:solidFill>
          <a:ln/>
        </p:spPr>
      </p:sp>
      <p:sp>
        <p:nvSpPr>
          <p:cNvPr id="23" name="Text 21"/>
          <p:cNvSpPr/>
          <p:nvPr/>
        </p:nvSpPr>
        <p:spPr>
          <a:xfrm>
            <a:off x="8366760" y="37490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裝 LibreOffice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48640" y="521208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真實例子：建新 repo、裝 LibreOffice 前，Claude 都先問我確認。把關「不可逆」是我這一層的核心職責。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原則寫在 CLAUDE.md「Git 工作流程」(main 只接受 PR merge，不直接 commit)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Pattern 4：人機知識互補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440680" cy="320040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2402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我補 Claude 的盲點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74320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不知道「我的 Mac 闔蓋會中斷背景進程」——這是物理 / 環境世界的知識。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17920" y="2011680"/>
            <a:ext cx="5440680" cy="3200400"/>
          </a:xfrm>
          <a:prstGeom prst="rect">
            <a:avLst/>
          </a:prstGeom>
          <a:solidFill>
            <a:srgbClr val="EAF0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22402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補我的盲點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74320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我一提醒，Claude 就解釋 caffeinate 機制、幫我設定（防系統睡眠但讓螢幕休息）——這是工具細節。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548640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我的「環境知識」× Claude 的「工具細節」——兩種知識互補，缺一進化就跑不完。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完整 50-iter 怎麼跑完：docs/evolution_design_notes.md §12.7(b)（nohup 脫離 harness + caffeinate -i -s）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Pattern 5：分層委派自主（最核心）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我請 Claude 為 OpenEvolve 搭安全框架（L0/L1/L2 Failure Taxonomy）——框架到位，我才敢放手。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5440680" cy="265176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沒框架（v3）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52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36%</a:t>
            </a:r>
            <a:endParaRPr lang="en-US" sz="52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5200" dirty="0">
                <a:solidFill>
                  <a:srgbClr val="23272E"/>
                </a:solidFill>
              </a:rPr>
              <a:t>iteration 崩潰</a:t>
            </a:r>
            <a:endParaRPr lang="en-US" sz="5200" dirty="0"/>
          </a:p>
        </p:txBody>
      </p:sp>
      <p:sp>
        <p:nvSpPr>
          <p:cNvPr id="9" name="Shape 7"/>
          <p:cNvSpPr/>
          <p:nvPr/>
        </p:nvSpPr>
        <p:spPr>
          <a:xfrm>
            <a:off x="6217920" y="2651760"/>
            <a:ext cx="5440680" cy="265176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完整架構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338328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52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52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5200" dirty="0">
                <a:solidFill>
                  <a:srgbClr val="23272E"/>
                </a:solidFill>
              </a:rPr>
              <a:t>次工具呼叫崩潰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548640" y="557784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我委派自主性的前提，是先建好「最壞只是退化」的護欄。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三層護欄：interaction_tool_wrapper.py(L0) · retrieval_executor.py(L1) · tool_loader.py(L2)｜數據 §12.7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五個模式 · 一頁回顧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89280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1737360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提問深化設計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46320" y="1737360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我的開放問題 → 失敗分類學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2633472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27889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17320" y="263347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誠實回報抓 bug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46320" y="2633472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agent.tools == [] 被主動揭露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48640" y="3529584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368503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17320" y="3529584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我把關不可逆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846320" y="3529584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/ brew / 建 repo 先問再做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48640" y="4425696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458114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581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17320" y="4425696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人機知識互補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846320" y="4425696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我的環境知識 × Claude 的工具細節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548640" y="5321808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77240" y="547725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5477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417320" y="5321808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分層委派自主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846320" y="5321808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先搭護欄，才放手讓它進化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548640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哪一個模式，你明天就能用在自己的專案？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五模式完整版見 docs/collaboration_workflow_outline.md（Part 3）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高潮案例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三層協作，跑出一個進化產物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3520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920240"/>
            <a:ext cx="3520440" cy="109728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45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我（Human）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269748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決定用完整架構跑 50 iter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 caffeinate 讓它整夜跑完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70832" y="1920240"/>
            <a:ext cx="3520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70832" y="1920240"/>
            <a:ext cx="35204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21945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99432" y="269748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搭好 L0/L1/L2 框架、啟動進化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脫離 harness、分析數據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193024" y="1920240"/>
            <a:ext cx="3520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93024" y="1920240"/>
            <a:ext cx="3520440" cy="1097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8421624" y="21945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421624" y="269748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自主進化出 iter22 的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「量化分段公式」（0.842）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4572000"/>
            <a:ext cx="11109960" cy="1737360"/>
          </a:xfrm>
          <a:prstGeom prst="rect">
            <a:avLst/>
          </a:prstGeom>
          <a:solidFill>
            <a:srgbClr val="11183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iter22 公式（節錄）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51206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user_std &lt; 0.7:  predicted = user_mean + 0.55·(item_mean − user_mean)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&lt; 1.0: +0.45·…   elif &lt; 1.3: +0.30·…   else: user_median + 0.20·…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clamp [1,5] · round 0.5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進化目標檔 config/agents_evolving.yaml EVOLVE-BLOCK · iter22 數據 docs/evolution_design_notes.md §12.7(b)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iter22 是三層協作的湧現產物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0" y="219456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2E9E6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1945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749040" y="219456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不會手寫那套公式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914400" y="338328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3A5BA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3832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749040" y="3383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不會自己想到那個公式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914400" y="457200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45720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749040" y="457200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沒框架會把自己改崩潰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914400" y="58521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沒有任何一層能單獨做到。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三層協作數據 docs/evolution_design_notes.md §12.7（baseline 0.72 → best 0.842，崩潰率 16%）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高潮案例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真正深刻的地方：iter22「之後」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我請 Claude 追了 iter22 (de559de9) 的所有衍生子代——結論：之後再沒有更好的後代。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11109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377440"/>
            <a:ext cx="109728" cy="8412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377440"/>
            <a:ext cx="2926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over-engineering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840480" y="2377440"/>
            <a:ext cx="7680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段公式 → 5、6 段，加更多參數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337560"/>
            <a:ext cx="11109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3337560"/>
            <a:ext cx="109728" cy="8412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337560"/>
            <a:ext cx="2926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分項此消彼長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840480" y="3337560"/>
            <a:ext cx="7680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 微幅波動，review_generation 反而退化 → 分數停滯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297680"/>
            <a:ext cx="11109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4297680"/>
            <a:ext cx="109728" cy="8412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297680"/>
            <a:ext cx="2926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三島趨同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840480" y="4297680"/>
            <a:ext cx="7680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把 iter22 基因散到 3 島 → 多樣性塌掉，整族卡同一山頭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349240"/>
            <a:ext cx="11109960" cy="114300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534924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給我的診斷：</a:t>
            </a:r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iter22 是局部最優。OpenEvolve 能「找到」它，但「為什麼停在這、怎麼跳出去」是探勘者結構上做不到的——它沒有「局部最優」這個概念。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島/遷移設定 config/openevolve_config.yaml:71-78（num_islands:3, migration_interval/rate）· 數據 §12.7(b)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高潮案例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連「失敗」也是協作的洞察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次低分崩潰 → 我請 Claude 爬梳資料歸因：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5440680" cy="219456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30175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44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次</a:t>
            </a:r>
            <a:endParaRPr lang="en-US" sz="4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4400" dirty="0">
                <a:solidFill>
                  <a:srgbClr val="23272E"/>
                </a:solidFill>
              </a:rPr>
              <a:t>YAML 語法壞掉</a:t>
            </a:r>
            <a:pPr indent="0" marL="0">
              <a:lnSpc>
                <a:spcPts val="3000"/>
              </a:lnSpc>
              <a:buNone/>
            </a:pPr>
            <a:r>
              <a:rPr lang="en-US" sz="1200" dirty="0">
                <a:solidFill>
                  <a:srgbClr val="6B7280"/>
                </a:solidFill>
              </a:rPr>
              <a:t>（full-rewrite 風險，繞過 clamp）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6217920" y="2743200"/>
            <a:ext cx="5440680" cy="2194560"/>
          </a:xfrm>
          <a:prstGeom prst="rect">
            <a:avLst/>
          </a:prstGeom>
          <a:solidFill>
            <a:srgbClr val="FBF1E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30175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44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次</a:t>
            </a:r>
            <a:endParaRPr lang="en-US" sz="4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4400" dirty="0">
                <a:solidFill>
                  <a:srgbClr val="23272E"/>
                </a:solidFill>
              </a:rPr>
              <a:t>rate limit 429</a:t>
            </a:r>
            <a:pPr indent="0" marL="0">
              <a:lnSpc>
                <a:spcPts val="3000"/>
              </a:lnSpc>
              <a:buNone/>
            </a:pPr>
            <a:r>
              <a:rPr lang="en-US" sz="1200" dirty="0">
                <a:solidFill>
                  <a:srgbClr val="6B7280"/>
                </a:solidFill>
              </a:rPr>
              <a:t>（NVIDIA NIM 限流）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548640" y="53949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協作不只產出成功，也共同理解失敗——成功與失敗，都是我們三層一起讀懂的。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8/50 低分歸因 docs/evolution_design_notes.md §12.7(b) · diff_based_evolution:false（full-rewrite）見 openevolve_config.yaml:18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反思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什麼該誰做？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11680"/>
            <a:ext cx="3520440" cy="128016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22860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我（Human）親自做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310896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方向 · 價值判斷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不可逆決策 · 領域/物理知識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70832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70832" y="2011680"/>
            <a:ext cx="3520440" cy="128016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2860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交給 Claude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0" y="310896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 · 驗證 · 分析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文件 · 誠實回報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93024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93024" y="2011680"/>
            <a:ext cx="3520440" cy="12801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8394192" y="22860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交給進化（OpenEvolve）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94192" y="310896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安全框架內的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大規模探索與發明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我用三條判準分工：可逆性 · 是否需要價值判斷 · 搜尋空間大小。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對應檔案：我→config/*.yaml ｜ Claude→src/ + tests/ ｜ 進化→EVOLVE-BLOCK（agents_evolving.yaml / evolvable_tools.py）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反思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2996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182880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協作正在變成多層——學會「委派自主性」是新技能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303580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28346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每往下一層，護欄要越強（最壞只是退化，不是崩潰）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2960" y="404164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63040" y="384048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誠實回報 + 人類把關不可逆 = 協作的安全地基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548640" y="484632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504748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5047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63040" y="48463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好問題驅動好設計；連失敗都能共同理解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回到開場：你的 AI 是工具，還是夥伴？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原則出處 docs/evolution_design_notes.md §3（分類學）· §4（協議/策略分離）· §12.7（數據）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1737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謝謝 · Q &amp; A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292608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1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這個專案的真正產物，不只是 0.842 的 agent——</a:t>
            </a:r>
            <a:endParaRPr lang="en-US" sz="21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1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而是我帶走的一套「人 + AI + 進化」安全協作工作流。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914400" y="4572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2E9E6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4572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33756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0" y="4572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3A5BA0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0" y="4572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3796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0" y="4572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0" y="4572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5760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資源　</a:t>
            </a:r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docs/collaboration_workflow_outline.md · docs/evolution_design_notes.md · docs/teaching_slides_outline.md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兩份大綱 docs/collaboration_workflow_outline.md · docs/teaching_slides_outline.md ｜ 技術 docs/evolution_design_notes.md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三層 AI 協作工作流</dc:title>
  <dc:subject>PptxGenJS Presentation</dc:subject>
  <dc:creator>AgentSocietyChallenge_OpenEvolve</dc:creator>
  <cp:lastModifiedBy>AgentSocietyChallenge_OpenEvolve</cp:lastModifiedBy>
  <cp:revision>1</cp:revision>
  <dcterms:created xsi:type="dcterms:W3CDTF">2026-06-15T12:42:20Z</dcterms:created>
  <dcterms:modified xsi:type="dcterms:W3CDTF">2026-06-15T12:42:20Z</dcterms:modified>
</cp:coreProperties>
</file>