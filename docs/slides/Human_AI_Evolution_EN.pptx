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combined_score</c:v>
                </c:pt>
              </c:strCache>
            </c:strRef>
          </c:tx>
          <c:spPr>
            <a:solidFill>
              <a:srgbClr val="3A5BA0"/>
            </a:solidFill>
            <a:ln w="38100" cap="flat">
              <a:solidFill>
                <a:srgbClr val="3A5B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3A5BA0"/>
              </a:solidFill>
              <a:ln w="9525" cap="flat">
                <a:solidFill>
                  <a:srgbClr val="3A5B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it0</c:v>
                  </c:pt>
                  <c:pt idx="1">
                    <c:v>it1</c:v>
                  </c:pt>
                  <c:pt idx="2">
                    <c:v>it2</c:v>
                  </c:pt>
                  <c:pt idx="3">
                    <c:v>it3</c:v>
                  </c:pt>
                  <c:pt idx="4">
                    <c:v>it4</c:v>
                  </c:pt>
                  <c:pt idx="5">
                    <c:v>it5</c:v>
                  </c:pt>
                  <c:pt idx="6">
                    <c:v>it6</c:v>
                  </c:pt>
                  <c:pt idx="7">
                    <c:v>it7</c:v>
                  </c:pt>
                  <c:pt idx="8">
                    <c:v>it8</c:v>
                  </c:pt>
                  <c:pt idx="9">
                    <c:v>it9</c:v>
                  </c:pt>
                  <c:pt idx="10">
                    <c:v>it10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0.28</c:v>
                </c:pt>
                <c:pt idx="1">
                  <c:v>0.28</c:v>
                </c:pt>
                <c:pt idx="2">
                  <c:v>0.65</c:v>
                </c:pt>
                <c:pt idx="3">
                  <c:v>0.55</c:v>
                </c:pt>
                <c:pt idx="4">
                  <c:v>0.6</c:v>
                </c:pt>
                <c:pt idx="5">
                  <c:v>0.35</c:v>
                </c:pt>
                <c:pt idx="6">
                  <c:v>0.71</c:v>
                </c:pt>
                <c:pt idx="7">
                  <c:v>0.35</c:v>
                </c:pt>
                <c:pt idx="8">
                  <c:v>0.35</c:v>
                </c:pt>
                <c:pt idx="9">
                  <c:v>0.79</c:v>
                </c:pt>
                <c:pt idx="10">
                  <c:v>0.35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elites</c:v>
                </c:pt>
              </c:strCache>
            </c:strRef>
          </c:tx>
          <c:spPr>
            <a:solidFill>
              <a:srgbClr val="E8A33D"/>
            </a:solidFill>
            <a:ln>
              <a:noFill/>
            </a:ln>
            <a:effectLst/>
          </c:spPr>
          <c:marker>
            <c:symbol val="circle"/>
            <c:size val="13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0.3</c:v>
                </c:pt>
                <c:pt idx="1">
                  <c:v>0.8</c:v>
                </c:pt>
                <c:pt idx="2">
                  <c:v>0.5</c:v>
                </c:pt>
                <c:pt idx="3">
                  <c:v>0.9</c:v>
                </c:pt>
                <c:pt idx="4">
                  <c:v>0.4</c:v>
                </c:pt>
                <c:pt idx="5">
                  <c:v>0.7</c:v>
                </c:pt>
                <c:pt idx="6">
                  <c:v>0.6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0.85</c:v>
                </c:pt>
                <c:pt idx="1">
                  <c:v>0.35</c:v>
                </c:pt>
                <c:pt idx="2">
                  <c:v>0.6</c:v>
                </c:pt>
                <c:pt idx="3">
                  <c:v>0.7</c:v>
                </c:pt>
                <c:pt idx="4">
                  <c:v>0.5</c:v>
                </c:pt>
                <c:pt idx="5">
                  <c:v>0.8</c:v>
                </c:pt>
                <c:pt idx="6">
                  <c:v>0.55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preference_estimation →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review_generation →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openevolve_evaluator.py" TargetMode="External"/><Relationship Id="rId2" Type="http://schemas.openxmlformats.org/officeDocument/2006/relationships/hyperlink" Target="https://github.com/yuchieh/AgentSocietyChallenge_OpenEvolve/blob/facfd59aceddfe0ce7f7499f93af16566d8002c2/config/openevolve_config.yaml" TargetMode="External"/><Relationship Id="rId3" Type="http://schemas.openxmlformats.org/officeDocument/2006/relationships/hyperlink" Target="https://github.com/yuchieh/AgentSocietyChallenge_OpenEvolve/blob/facfd59aceddfe0ce7f7499f93af16566d8002c2/config/agents_evolving.ya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config/agents.yaml" TargetMode="External"/><Relationship Id="rId2" Type="http://schemas.openxmlformats.org/officeDocument/2006/relationships/hyperlink" Target="https://github.com/yuchieh/AgentSocietyChallenge_OpenEvolve/blob/facfd59aceddfe0ce7f7499f93af16566d8002c2/config/agents_evolving.yaml" TargetMode="External"/><Relationship Id="rId3" Type="http://schemas.openxmlformats.org/officeDocument/2006/relationships/hyperlink" Target="https://github.com/yuchieh/AgentSocietyChallenge_OpenEvolve/blob/facfd59aceddfe0ce7f7499f93af16566d8002c2/evolvable_tools.py#L18-L58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config/agents_evolving.ya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tool_loader.py" TargetMode="External"/><Relationship Id="rId2" Type="http://schemas.openxmlformats.org/officeDocument/2006/relationships/hyperlink" Target="https://github.com/yuchieh/AgentSocietyChallenge_OpenEvolve/blob/facfd59aceddfe0ce7f7499f93af16566d8002c2/evolvable_tools.py#L18-L58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retrieval_executor.py#L53" TargetMode="External"/><Relationship Id="rId2" Type="http://schemas.openxmlformats.org/officeDocument/2006/relationships/hyperlink" Target="https://github.com/yuchieh/AgentSocietyChallenge_OpenEvolve/blob/facfd59aceddfe0ce7f7499f93af16566d8002c2/src/tools/tool_loader.py#L77-L177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openevolve_evaluator.py#L96" TargetMode="External"/><Relationship Id="rId2" Type="http://schemas.openxmlformats.org/officeDocument/2006/relationships/hyperlink" Target="https://github.com/yuchieh/AgentSocietyChallenge_OpenEvolve/blob/facfd59aceddfe0ce7f7499f93af16566d8002c2/openevolve_evaluator.py#L106-L108" TargetMode="External"/><Relationship Id="rId3" Type="http://schemas.openxmlformats.org/officeDocument/2006/relationships/hyperlink" Target="https://github.com/yuchieh/AgentSocietyChallenge_OpenEvolve/blob/facfd59aceddfe0ce7f7499f93af16566d8002c2/src/crews/simulation_crew.py#L42-L89" TargetMode="External"/><Relationship Id="rId4" Type="http://schemas.openxmlformats.org/officeDocument/2006/relationships/hyperlink" Target="https://github.com/yuchieh/AgentSocietyChallenge_OpenEvolve/blob/facfd59aceddfe0ce7f7499f93af16566d8002c2/config/openevolve_config.yaml#L10-L88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chieh/AgentSocietyChallenge_OpenEvolve/blob/facfd59aceddfe0ce7f7499f93af16566d8002c2/openevolve_evaluator.py#L133-L137" TargetMode="External"/><Relationship Id="rId3" Type="http://schemas.openxmlformats.org/officeDocument/2006/relationships/hyperlink" Target="https://github.com/yuchieh/AgentSocietyChallenge_OpenEvolve/blob/facfd59aceddfe0ce7f7499f93af16566d8002c2/openevolve_evaluator.py#L179-L184" TargetMode="External"/><Relationship Id="rId1" Type="http://schemas.openxmlformats.org/officeDocument/2006/relationships/chart" Target="/ppt/charts/chart1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retrieval_executor.py#L28-L30" TargetMode="External"/><Relationship Id="rId2" Type="http://schemas.openxmlformats.org/officeDocument/2006/relationships/hyperlink" Target="https://github.com/yuchieh/AgentSocietyChallenge_OpenEvolve/blob/facfd59aceddfe0ce7f7499f93af16566d8002c2/config/agents_evolving.yaml#L11-L16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interaction_tool_wrapper.py#L21" TargetMode="External"/><Relationship Id="rId2" Type="http://schemas.openxmlformats.org/officeDocument/2006/relationships/hyperlink" Target="https://github.com/yuchieh/AgentSocietyChallenge_OpenEvolve/blob/facfd59aceddfe0ce7f7499f93af16566d8002c2/src/tools/interaction_tool_wrapper.py#L26" TargetMode="External"/><Relationship Id="rId3" Type="http://schemas.openxmlformats.org/officeDocument/2006/relationships/hyperlink" Target="https://github.com/yuchieh/AgentSocietyChallenge_OpenEvolve/blob/facfd59aceddfe0ce7f7499f93af16566d8002c2/openevolve_evaluator.py#L31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retrieval_executor.py#L44" TargetMode="External"/><Relationship Id="rId2" Type="http://schemas.openxmlformats.org/officeDocument/2006/relationships/hyperlink" Target="https://github.com/yuchieh/AgentSocietyChallenge_OpenEvolve/blob/facfd59aceddfe0ce7f7499f93af16566d8002c2/src/tools/retrieval_executor.py#L53" TargetMode="External"/><Relationship Id="rId3" Type="http://schemas.openxmlformats.org/officeDocument/2006/relationships/hyperlink" Target="https://github.com/yuchieh/AgentSocietyChallenge_OpenEvolve/blob/facfd59aceddfe0ce7f7499f93af16566d8002c2/src/tools/retrieval_executor.py#L29" TargetMode="External"/><Relationship Id="rId4" Type="http://schemas.openxmlformats.org/officeDocument/2006/relationships/hyperlink" Target="https://github.com/yuchieh/AgentSocietyChallenge_OpenEvolve/blob/facfd59aceddfe0ce7f7499f93af16566d8002c2/src/tools/retrieval_executor.py#L140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flows/serving_flow.py#L85-L93" TargetMode="External"/><Relationship Id="rId2" Type="http://schemas.openxmlformats.org/officeDocument/2006/relationships/hyperlink" Target="https://github.com/yuchieh/AgentSocietyChallenge_OpenEvolve/blob/facfd59aceddfe0ce7f7499f93af16566d8002c2/src/crews/simulation_crew.py#L42-L50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tool_loader.py#L77" TargetMode="External"/><Relationship Id="rId2" Type="http://schemas.openxmlformats.org/officeDocument/2006/relationships/hyperlink" Target="https://github.com/yuchieh/AgentSocietyChallenge_OpenEvolve/blob/facfd59aceddfe0ce7f7499f93af16566d8002c2/src/tools/tool_loader.py#L106" TargetMode="External"/><Relationship Id="rId3" Type="http://schemas.openxmlformats.org/officeDocument/2006/relationships/hyperlink" Target="https://github.com/yuchieh/AgentSocietyChallenge_OpenEvolve/blob/facfd59aceddfe0ce7f7499f93af16566d8002c2/src/tools/tool_loader.py#L120" TargetMode="External"/><Relationship Id="rId4" Type="http://schemas.openxmlformats.org/officeDocument/2006/relationships/hyperlink" Target="https://github.com/yuchieh/AgentSocietyChallenge_OpenEvolve/blob/facfd59aceddfe0ce7f7499f93af16566d8002c2/src/tools/tool_loader.py#L156" TargetMode="External"/><Relationship Id="rId5" Type="http://schemas.openxmlformats.org/officeDocument/2006/relationships/hyperlink" Target="https://github.com/yuchieh/AgentSocietyChallenge_OpenEvolve/blob/facfd59aceddfe0ce7f7499f93af16566d8002c2/src/tools/tool_loader.py#L60" TargetMode="External"/><Relationship Id="rId6" Type="http://schemas.openxmlformats.org/officeDocument/2006/relationships/hyperlink" Target="https://github.com/yuchieh/AgentSocietyChallenge_OpenEvolve/blob/facfd59aceddfe0ce7f7499f93af16566d8002c2/src/tools/tool_loader.py#L164" TargetMode="External"/><Relationship Id="rId7" Type="http://schemas.openxmlformats.org/officeDocument/2006/relationships/hyperlink" Target="https://github.com/yuchieh/AgentSocietyChallenge_OpenEvolve/blob/facfd59aceddfe0ce7f7499f93af16566d8002c2/src/crews/simulation_crew.py#L53-L62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openevolve_evaluator.py#L83-L84" TargetMode="External"/><Relationship Id="rId2" Type="http://schemas.openxmlformats.org/officeDocument/2006/relationships/hyperlink" Target="https://github.com/yuchieh/AgentSocietyChallenge_OpenEvolve/blob/facfd59aceddfe0ce7f7499f93af16566d8002c2/scripts/validate_holdout.py#L25" TargetMode="External"/><Relationship Id="rId3" Type="http://schemas.openxmlformats.org/officeDocument/2006/relationships/hyperlink" Target="https://github.com/yuchieh/AgentSocietyChallenge_OpenEvolve/blob/facfd59aceddfe0ce7f7499f93af16566d8002c2/src/utils/create_sampled_dataset.py#L8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chieh/AgentSocietyChallenge_OpenEvolve/blob/facfd59aceddfe0ce7f7499f93af16566d8002c2/config/openevolve_config.yaml#L85-L88" TargetMode="External"/><Relationship Id="rId3" Type="http://schemas.openxmlformats.org/officeDocument/2006/relationships/hyperlink" Target="https://github.com/yuchieh/AgentSocietyChallenge_OpenEvolve/blob/facfd59aceddfe0ce7f7499f93af16566d8002c2/openevolve_evaluator.py#L47-L59" TargetMode="External"/><Relationship Id="rId1" Type="http://schemas.openxmlformats.org/officeDocument/2006/relationships/chart" Target="/ppt/charts/chart2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tool_loader.py#L139-L146" TargetMode="External"/><Relationship Id="rId2" Type="http://schemas.openxmlformats.org/officeDocument/2006/relationships/hyperlink" Target="https://github.com/yuchieh/AgentSocietyChallenge_OpenEvolve/blob/facfd59aceddfe0ce7f7499f93af16566d8002c2/src/tools/tool_loader.py#L164" TargetMode="External"/><Relationship Id="rId3" Type="http://schemas.openxmlformats.org/officeDocument/2006/relationships/hyperlink" Target="https://github.com/yuchieh/AgentSocietyChallenge_OpenEvolve/blob/facfd59aceddfe0ce7f7499f93af16566d8002c2/src/crews/simulation_crew.py#L21-L30" TargetMode="External"/><Relationship Id="rId4" Type="http://schemas.openxmlformats.org/officeDocument/2006/relationships/hyperlink" Target="https://github.com/yuchieh/AgentSocietyChallenge_OpenEvolve/blob/facfd59aceddfe0ce7f7499f93af16566d8002c2/tests/test_tool_loader.py#L185-L203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interaction_tool_wrapper.py" TargetMode="External"/><Relationship Id="rId2" Type="http://schemas.openxmlformats.org/officeDocument/2006/relationships/hyperlink" Target="https://github.com/yuchieh/AgentSocietyChallenge_OpenEvolve/blob/facfd59aceddfe0ce7f7499f93af16566d8002c2/src/tools/retrieval_executor.py" TargetMode="External"/><Relationship Id="rId3" Type="http://schemas.openxmlformats.org/officeDocument/2006/relationships/hyperlink" Target="https://github.com/yuchieh/AgentSocietyChallenge_OpenEvolve/blob/facfd59aceddfe0ce7f7499f93af16566d8002c2/src/tools/tool_loader.py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config/agents_evolving.ya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config/openevolve_config.yaml#L71-L78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openevolve_evaluator.py#L115" TargetMode="External"/><Relationship Id="rId2" Type="http://schemas.openxmlformats.org/officeDocument/2006/relationships/hyperlink" Target="https://github.com/yuchieh/AgentSocietyChallenge_OpenEvolve/blob/facfd59aceddfe0ce7f7499f93af16566d8002c2/config/openevolve_config.yaml#L71-L78" TargetMode="External"/><Relationship Id="rId3" Type="http://schemas.openxmlformats.org/officeDocument/2006/relationships/hyperlink" Target="https://github.com/yuchieh/AgentSocietyChallenge_OpenEvolve/blob/facfd59aceddfe0ce7f7499f93af16566d8002c2/evolvable_tools.py#L18-L58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config/openevolve_config.yaml#L18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config/agents_evolving.yaml" TargetMode="External"/><Relationship Id="rId2" Type="http://schemas.openxmlformats.org/officeDocument/2006/relationships/hyperlink" Target="https://github.com/yuchieh/AgentSocietyChallenge_OpenEvolve/blob/facfd59aceddfe0ce7f7499f93af16566d8002c2/evolvable_tools.py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00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× CLAUDE CODE × OPENEVOLVE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68680" y="20116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× AI × Evolution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Collaborating to build an agent system that “evolves safely”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2E9E6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572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2044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457200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3A5BA0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4572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0372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80960" y="457200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0" y="4572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760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talk covering both “how the system was built” and “how human + AI collaborated to build it”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 · entry points </a:t>
            </a:r>
            <a:pPr indent="0" marL="0">
              <a:buNone/>
            </a:pPr>
            <a:r>
              <a:rPr lang="en-US" sz="900" u="sng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openevolve_evaluator.py</a:t>
            </a:r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config/openevolve_config.yaml</a:t>
            </a:r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config/agents_evolving.yaml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did we build?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11680"/>
            <a:ext cx="3520440" cy="128016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0.28 → 0.72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777240" y="36576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dividend from the deterministic executor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70832" y="201168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0832" y="2011680"/>
            <a:ext cx="3520440" cy="128016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9432" y="2697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0.842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4599432" y="36576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iter22 (evolved to gen 22) grew the rating formula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93024" y="201168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93024" y="2011680"/>
            <a:ext cx="3520440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8421624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crashes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21624" y="2697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36% → 0</a:t>
            </a:r>
            <a:endParaRPr lang="en-US" sz="2900" dirty="0"/>
          </a:p>
        </p:txBody>
      </p:sp>
      <p:sp>
        <p:nvSpPr>
          <p:cNvPr id="19" name="Text 17"/>
          <p:cNvSpPr/>
          <p:nvPr/>
        </p:nvSpPr>
        <p:spPr>
          <a:xfrm>
            <a:off x="8421624" y="36576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breaking itself to zero tool-calling crashes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no single person wrote it — it’s the work of three agents collaborating: Me + Claude + OpenEvolve.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&amp; learning goals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9019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Collaboration architecture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25880" y="234086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agents · autonomy vs guardrails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20640" y="19019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the seam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120640" y="234086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breaks itself → failure taxonomy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92440" y="1737360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15400" y="19019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core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915400" y="234086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/ L1 / L2 layered solution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108960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337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32735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mechanisms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325880" y="371246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 · MAP-Elites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3108960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26280" y="3337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5262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120640" y="32735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Collaboration patterns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120640" y="371246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transferable patterns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92440" y="3108960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21040" y="3337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915400" y="32735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Climax: iter22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915400" y="371246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emergent product of three layers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47548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goals   </a:t>
            </a:r>
            <a:pPr indent="0" marL="0">
              <a:buNone/>
            </a:pPr>
            <a:r>
              <a:rPr lang="en-US" sz="12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three-layer collaboration architecture · how to set autonomy/guardrails · understand the failure taxonomy &amp; L0/L1/L2 · 5 patterns · a rubric for what I do / delegate to AI / hand to evolution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0292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thread: the collaboration story is the shell; the technical taxonomy is the worked case embedded inside.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the three roles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11680"/>
            <a:ext cx="3520440" cy="128016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(Human)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presenter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direction · decide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· gatekeep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70832" y="201168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0832" y="2011680"/>
            <a:ext cx="3520440" cy="128016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9432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building partner (AI)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99432" y="33832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· verify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· report honestly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93024" y="201168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93024" y="2011680"/>
            <a:ext cx="3520440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8421624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OpenEvolve’s LLM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21624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explorer Claude drives (AI)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21624" y="33832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mutate autonomously · invent tools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evolution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39496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the last two are both AI, yet play completely different roles; I stand at the outermost layer, directing.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Me+Claude write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config/agents.yaml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(production)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agents_evolving.yaml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(seed) ｜ OpenEvolve edits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evolvable_tools.py:18-58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Nested layers: a chain of delegated autonomy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246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77440"/>
            <a:ext cx="3246120" cy="109728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88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(Human)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/ decisions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0" y="2743200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directs 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2377440"/>
            <a:ext cx="3246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2377440"/>
            <a:ext cx="3246120" cy="109728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788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3383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/ judgment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26680" y="2743200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directs 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12480" y="2377440"/>
            <a:ext cx="3246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0" y="2377440"/>
            <a:ext cx="3246120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8641080" y="2788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 LLM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41080" y="3383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exploration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autonomy rises to the right   |   guardrails must rise to the right too 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isn’t “me using a tool” — it’s me delegating autonomy down a three-layer chain.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Me→config/*.yaml ｜ Claude→src/tools/ + src/crews/ + src/flows/ ｜ OpenEvolve→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agents_evolving.yaml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EVOLVE-BLOCK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× OpenEvolve: architect vs prospector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1783080"/>
          </a:xfrm>
          <a:prstGeom prst="rect">
            <a:avLst/>
          </a:prstGeom>
          <a:solidFill>
            <a:srgbClr val="EAF0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109728" cy="178308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= the architect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 design · knows “why”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moves · high leverage · explainable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94960" cy="1783080"/>
          </a:xfrm>
          <a:prstGeom prst="rect">
            <a:avLst/>
          </a:prstGeom>
          <a:solidFill>
            <a:srgbClr val="FBF1E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783080"/>
            <a:ext cx="109728" cy="17830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 = the prospector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24231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Intentionless mutation + selection · knows only “what”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· low leverage · by sheer numbers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3291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160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Design the space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31520" y="46177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evolvable scope + guardrails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58768" y="42519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434840" y="3977640"/>
            <a:ext cx="3291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17720" y="4160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Explore at scale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617720" y="46177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iter22 · 8 crashes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44968" y="42519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8321040" y="3977640"/>
            <a:ext cx="3291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503920" y="4160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Analyze &amp; adjust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503920" y="46177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→ fix the frame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53212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Next round: use the findings to adjust the search space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94360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who’s stronger — different species filling gaps: Claude designs precisely but can’t blind-search; OpenEvolve blind-searches but doesn’t grasp what it found.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builds the frame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src/tools/tool_loader.py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(77 AST / 120 sandbox) · OpenEvolve explores in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evolvable_tools.py:18-58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EVOLVE-BLOCK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Higher autonomy, stronger guardrail + the safety constitution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52578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Layer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Autonomy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Guardrail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 (Human)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decisions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own judgment, domain knowledge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5BA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Claude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+ analyze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review, git PR flow, honest reporting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8A3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OpenEvolve LLM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mutate + invent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Taxonomy (clamp / sandbox)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74920"/>
            <a:ext cx="1110996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CONSTITUTION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5532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more I let it act autonomously, the stronger the guardrail I build first — “worst case = graceful degradation, never a catastrophic crash”.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Guardrails: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retrieval_executor.py:53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normalize_policy (clamp)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tool_loader.py:77-177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(AST→sandbox→wrap)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collaboration starts: align context first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anything, I (Human) keep all three on the same context — the bedrock of all collaboration.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440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20240"/>
            <a:ext cx="109728" cy="169164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0848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 first, then act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56032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“Read &amp; summarize this repo” / “Is the current block set up right?” — I state my understanding, you confirm, then we move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5440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920240"/>
            <a:ext cx="109728" cy="169164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0848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 key history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56032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can an agent evolve safely without crashing on tool calling?” — carries the earlier crash’s lesson into the present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440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749040"/>
            <a:ext cx="109728" cy="169164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9136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 state before acting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438912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would this push go?” “Why no branch this time?” — never act on a fuzzy premise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749040"/>
            <a:ext cx="5440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3749040"/>
            <a:ext cx="109728" cy="169164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39136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a living doc to rebuild later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37960" y="438912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evolution_design_notes as a living doc + “refer to our earlier design notes” — any interruption can be picked back up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669280"/>
            <a:ext cx="1110996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5669280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act as the “owner” of context: align at the start, recall history, confirm continuously, write it down — so any interruption can be reconnected from the record.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stage: the task + CrewAI + OpenEvolve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1: </a:t>
            </a:r>
            <a:pPr indent="0" marL="0"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user’s </a:t>
            </a:r>
            <a:pPr indent="0" marL="0">
              <a:buNone/>
            </a:pPr>
            <a:r>
              <a:rPr lang="en-US" sz="1450" b="1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{stars, review}</a:t>
            </a:r>
            <a:pPr indent="0" marL="0"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 business   fitness = overall_quality = (rating accuracy + text similarity) / 2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291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377440"/>
            <a:ext cx="3291840" cy="109728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data_retriever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3200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/ extract data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58768" y="27432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370832" y="2377440"/>
            <a:ext cx="3291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70832" y="2377440"/>
            <a:ext cx="3291840" cy="109728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psychological_analyst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3200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preference · habits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680960" y="27432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193024" y="2377440"/>
            <a:ext cx="3291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93024" y="2377440"/>
            <a:ext cx="3291840" cy="109728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8" name="Text 16"/>
          <p:cNvSpPr/>
          <p:nvPr/>
        </p:nvSpPr>
        <p:spPr>
          <a:xfrm>
            <a:off x="8394192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behavior_simulator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94192" y="3200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{stars, review}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3-agent CrewAI pipeline (Process.sequential) — each agent’s output is the next one’s context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4663440"/>
            <a:ext cx="1110996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4846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 = repeated “mutate → score → select” with an LLM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5257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MAP-Elites archive · island model · EVOLVE-BLOCK markers · combined_score as fitness. Core question: how to let the system “design itself” without breaking itself?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evaluator.py:96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evaluate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:106-108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fitness ｜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simulation_crew.py:42-89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three agents ｜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openevolve_config.yaml:10-88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crash site: evolution broke itself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earlier “unprotected” run, a mutation to the agent prompt broke tool calling → the whole flow crashed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286000"/>
          <a:ext cx="73152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138160" y="2377440"/>
            <a:ext cx="3520440" cy="356616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321040" y="2651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0.35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836676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score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366760" y="397764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run hit this floor ~36% of the time — one broken tool call and the prediction flow collapses.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openevolve_evaluator.py:133-137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timeout fallback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:179-184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exception fallback (both return _result(0.0))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SEAM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1: Claude’s “failure taxonomy”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taxonomy = </a:t>
            </a:r>
            <a:pPr indent="0" marL="0"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patching each broken tool ad hoc, Claude first sorts “how tool calling can break” into 5 failure modes, each with its own defense.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4114800" cy="3840480"/>
          </a:xfrm>
          <a:prstGeom prst="rect">
            <a:avLst/>
          </a:prstGeom>
          <a:solidFill>
            <a:srgbClr val="EAF0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103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good question I asked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542032"/>
            <a:ext cx="3703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“How can an agent safely evolve, use different tools, even create new tools — without crashing on tool calling?”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51206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“fix my bug”, but a design question that pushes deeper.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938528"/>
            <a:ext cx="6812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938528"/>
            <a:ext cx="91440" cy="566928"/>
          </a:xfrm>
          <a:prstGeom prst="rect">
            <a:avLst/>
          </a:prstGeom>
          <a:solidFill>
            <a:srgbClr val="C0453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93852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04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623560" y="193852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protocol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01000" y="193852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 text format broken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596896"/>
            <a:ext cx="6812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2596896"/>
            <a:ext cx="91440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59689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623560" y="259689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 correctness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01000" y="259689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query_type filled in wrong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255264"/>
            <a:ext cx="6812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255264"/>
            <a:ext cx="91440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325526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623560" y="325526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strategy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01000" y="325526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“skip the query, just guess”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913632"/>
            <a:ext cx="6812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913632"/>
            <a:ext cx="91440" cy="566928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391363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623560" y="391363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digestion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01000" y="39136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reviews, no idea how to sample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4572000"/>
            <a:ext cx="6812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4572000"/>
            <a:ext cx="91440" cy="566928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457200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623560" y="457200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Downstream contract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01000" y="45720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summary handed on is mangled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5285232"/>
            <a:ext cx="6812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Upside: break any one layer and worst case is degradation, not a total crash. Insight — fitness tells you it “broke”, not “where”; layering lets you treat the right thing.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Landed in src/tools/{interaction_tool_wrapper,retrieval_executor,tool_loader}.py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principle: separate protocol from policy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109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109728" cy="1737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933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 layer — frozen, evolution can’t touch it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4871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a tool is called”: function signature, parameter format, return format, registration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buNone/>
            </a:pPr>
            <a:r>
              <a:rPr lang="en-US" sz="1400" i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may only query user / item / review” — fixed, nobody can change it.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11109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749040"/>
            <a:ext cx="109728" cy="17373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9136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layer — freely evolved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44074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a tool is used”: which to fetch, how many, when, how to digest, even what new tool is needed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4892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5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buNone/>
            </a:pPr>
            <a:r>
              <a:rPr lang="en-US" sz="1400" i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round, query user + review, take 15 each, sort by recency” — let evolution try.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71500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power outlet: the socket shape is the “protocol” (fixed); what you plug in is the “policy” (free) — one shape, infinite uses.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retrieval_executor.py:28-30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ALLOWED_QUERIES/STRATEGIES (frozen) ｜ Policy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agents_evolving.yaml:11-16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retrieval_policy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three-layer solution + L0 observability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109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89280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22951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9184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 observability — turn blind spots into signal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1109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3063240"/>
            <a:ext cx="457200" cy="45720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29443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334670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safely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91840" y="2834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tool calling away from the LLM → deterministic executor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11109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4114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17320" y="39959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17320" y="439826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safely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291840" y="3886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evolution invent new tools — a four-gate sandbox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11109960" cy="1234440"/>
          </a:xfrm>
          <a:prstGeom prst="rect">
            <a:avLst/>
          </a:prstGeom>
          <a:solidFill>
            <a:srgbClr val="EAF7F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68680" y="502920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detail  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call log (query_type, ok) → evaluator rolls it into artifacts → the next mutation’s prompt sees diagnostics like “missing_essential: [user]”. Pure add-on, default behavior unchanged.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interaction_tool_wrapper.py:21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_record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:26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drain_tool_log ｜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openevolve_evaluator.py:31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_summarize_tool_use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L1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L1: clamp executor + “a whitelist ≠ no room to evolve”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3749040"/>
          </a:xfrm>
          <a:prstGeom prst="rect">
            <a:avLst/>
          </a:prstGeom>
          <a:solidFill>
            <a:srgbClr val="1118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4884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retrieval_policy: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queries: [user, item,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review_by_user]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review_sampling: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strategy: recent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k: 15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max_chars_per_result: 6000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349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clamp, don't reject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514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272E"/>
                </a:solidFill>
              </a:rPr>
              <a:t>Project illegal values back into the legal space, </a:t>
            </a:r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2E9E6B"/>
                </a:solidFill>
              </a:rPr>
              <a:t>never raise</a:t>
            </a:r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272E"/>
                </a:solidFill>
              </a:rPr>
              <a:t>. k=999999→50 · bogus query→filtered · all garbage→default.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0" y="3977640"/>
            <a:ext cx="48463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41148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E8A33D"/>
                </a:solidFill>
              </a:rPr>
              <a:t>Whitelist ≠ no room: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3272E"/>
                </a:solidFill>
              </a:rPr>
              <a:t>ALLOWED_QUERIES is the “alphabet”, policy is the “sentence”. 26 letters are fixed, yet infinitely many sentences. The real ceiling is the dataset, not the whitelist.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retrieval_executor.py:44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_clamp_int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:53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normalize_policy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:29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ALLOWED_QUERIES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:140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execute_policy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L1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Wiring: data_retriever from “caller” to “extractor”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40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4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data_retriever [has tool]</a:t>
            </a:r>
            <a:endParaRPr lang="en-US" sz="135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350" dirty="0">
                <a:solidFill>
                  <a:srgbClr val="23272E"/>
                </a:solidFill>
              </a:rPr>
              <a:t>  ↓ LLM calls wrapper ×4 (text format)</a:t>
            </a:r>
            <a:endParaRPr lang="en-US" sz="135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350" dirty="0">
                <a:solidFill>
                  <a:srgbClr val="23272E"/>
                </a:solidFill>
              </a:rPr>
              <a:t>  ↓ assembles a summary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caller is the LLM — the crash-prone kind.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440680" cy="356616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92240" y="288036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350" dirty="0">
                <a:solidFill>
                  <a:srgbClr val="CADCFC"/>
                </a:solidFill>
              </a:rPr>
              <a:t>executor: deterministic retrieval (pre-crew)</a:t>
            </a:r>
            <a:endParaRPr lang="en-US" sz="135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350" dirty="0">
                <a:solidFill>
                  <a:srgbClr val="FFFFFF"/>
                </a:solidFill>
              </a:rPr>
              <a:t>  ↓ retrieved_context injected</a:t>
            </a:r>
            <a:endParaRPr lang="en-US" sz="135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35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data_retriever [no tool]</a:t>
            </a:r>
            <a:endParaRPr lang="en-US" sz="135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350" dirty="0">
                <a:solidFill>
                  <a:srgbClr val="FFFFFF"/>
                </a:solidFill>
              </a:rPr>
              <a:t>  ↓ just extracts {retrieved_context}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92240" y="4892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pure-text task — can’t crash on tool calling.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src/flows/serving_flow.py:85-93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execute_policy → inject retrieved_context ｜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simulation_crew.py:42-50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data_retriever has no tools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L2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L2: a four-gate sandbox + docstring co-evolution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48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9476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 safety scan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3774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import / open / exec / dunder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5394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28232" y="2148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2823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40880" y="19476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Signature check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23774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tool_* + (kit, user_id, item_id)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5394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3520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33192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Sandbox trial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37490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 timeout; bad tools silently dropped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154680"/>
            <a:ext cx="5394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28232" y="3520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40880" y="33192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 &amp; register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37490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 → the description the agent sees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572000"/>
            <a:ext cx="11109960" cy="1508760"/>
          </a:xfrm>
          <a:prstGeom prst="rect">
            <a:avLst/>
          </a:prstGeom>
          <a:solidFill>
            <a:srgbClr val="FBF1E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46634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B5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key points 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docstring co-evolution: a vague docstring → the agent won’t call it → zero fitness → selected out; discoverability is under evolutionary pressure. ② Tools mount at the “decision point” psychological_analyst (not data_retriever, so we don’t reintroduce the crash risk L1 just removed). ReadOnlyKit exposes only get_user/get_item/get_reviews.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tool_loader.py:77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:106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:120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:156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gates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:60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ReadOnlyKit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:164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docstring ｜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simulation_crew.py:53-62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attach to analyst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TRUST MECHANISMS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/ Val split: the overfitting mirror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“memorizes the answers” — specializes to those train tasks without generalizing. A disjoint holdout catches it.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440680" cy="3108960"/>
          </a:xfrm>
          <a:prstGeom prst="rect">
            <a:avLst/>
          </a:prstGeom>
          <a:solidFill>
            <a:srgbClr val="F7E9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697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4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Overfit (false champion)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  0.90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C045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holdout  0.40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500" b="1" dirty="0">
                <a:solidFill>
                  <a:srgbClr val="C0453B"/>
                </a:solidFill>
              </a:rPr>
              <a:t>gap 0.50 → 🚨 alarm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2468880"/>
            <a:ext cx="5440680" cy="3108960"/>
          </a:xfrm>
          <a:prstGeom prst="rect">
            <a:avLst/>
          </a:prstGeom>
          <a:solidFill>
            <a:srgbClr val="E7F2E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697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Generalizes (trustworthy)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32918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  0.75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2E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holdout  0.72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500" b="1" dirty="0">
                <a:solidFill>
                  <a:srgbClr val="2E9E6B"/>
                </a:solidFill>
              </a:rPr>
              <a:t>gap 0.03 → ✅ really learned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validate-holdout — disjoint verified, overlap = 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evaluator.py:83-84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OPENEVOLVE_TASK_DIR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scripts/validate_holdout.py:25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switch to holdout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create_sampled_dataset.py:8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disjoint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TRUST MECHANISMS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MAP-Elites custom dimensions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combined_score squashes two extreme specialists into a mediocre middle. Use the two sub-metrics as diversity dimensions.</a:t>
            </a:r>
            <a:endParaRPr lang="en-US" sz="14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377440"/>
          <a:ext cx="60350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858000" y="2468880"/>
            <a:ext cx="4800600" cy="365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32320" y="2697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fitness vs feature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132320" y="320040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combined_score</a:t>
            </a:r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</a:rPr>
              <a:t> decides who wins (fitness)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preference × review</a:t>
            </a:r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</a:rPr>
              <a:t> only sets coordinates (diversity)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132320" y="48463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elites across the trade-off frontier and breeds hybrids.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config/openevolve_config.yaml:85-88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feature_dimensions (8×8)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openevolve_evaluator.py:47-59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_result(extra_metrics)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PATTERNS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2: honest reporting — a healthy score ≠ correct behavior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2286000"/>
          </a:xfrm>
          <a:prstGeom prst="rect">
            <a:avLst/>
          </a:prstGeom>
          <a:solidFill>
            <a:srgbClr val="F7E9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4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Looked perfect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500" b="1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combined_score = </a:t>
            </a:r>
            <a:pPr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C045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0.8452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6B7280"/>
                </a:solidFill>
              </a:rPr>
              <a:t>Pretty score — nobody would suspect 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440680" cy="2286000"/>
          </a:xfrm>
          <a:prstGeom prst="rect">
            <a:avLst/>
          </a:prstGeom>
          <a:solidFill>
            <a:srgbClr val="E7F2E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verified proactively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4231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3272E"/>
                </a:solidFill>
              </a:rPr>
              <a:t>Checked agent.tools directly → found </a:t>
            </a:r>
            <a:pPr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C045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3272E"/>
                </a:solidFill>
              </a:rPr>
              <a:t>Two real bugs: _safe_import removed / @tool needs a docstring → graceful [] hid the failure.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1110996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4389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 A healthy score ≠ correct behavior ”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868680" y="4983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 disguises “tools never attached” as “score looks fine”. Verify the feature itself (the tools list), not just the score.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tool_loader.py:139-146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_safe_import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:164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docstring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simulation_crew.py:21-30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graceful []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tests/test_tool_loader.py:185-203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PATTERNS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Patterns 3 &amp; 4: gatekeep irreversibles + complementary knowledge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40680" cy="3657600"/>
          </a:xfrm>
          <a:prstGeom prst="rect">
            <a:avLst/>
          </a:prstGeom>
          <a:solidFill>
            <a:srgbClr val="F7ECE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4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I gatekeep irreversible actions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983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23272E"/>
                </a:solidFill>
              </a:rPr>
              <a:t>Claude asks me first, then acts: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PR · brew install · system settings · new GitHub repo · install LibreOffice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23272E"/>
                </a:solidFill>
              </a:rPr>
              <a:t>Gatekeeping the irreversible is my layer’s core job.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440680" cy="3657600"/>
          </a:xfrm>
          <a:prstGeom prst="rect">
            <a:avLst/>
          </a:prstGeom>
          <a:solidFill>
            <a:srgbClr val="EAF0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 Complementary human-AI knowledge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697480"/>
            <a:ext cx="4983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50" b="1" dirty="0">
                <a:solidFill>
                  <a:srgbClr val="2E9E6B"/>
                </a:solidFill>
              </a:rPr>
              <a:t>I fill Claude’s gap: </a:t>
            </a:r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23272E"/>
                </a:solidFill>
              </a:rPr>
              <a:t>“closing the Mac lid kills background processes” (environment)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50" b="1" dirty="0">
                <a:solidFill>
                  <a:srgbClr val="3A5BA0"/>
                </a:solidFill>
              </a:rPr>
              <a:t>Claude fills mine: </a:t>
            </a:r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23272E"/>
                </a:solidFill>
              </a:rPr>
              <a:t>explains caffeinate &amp; sets it up (no sleep, but screen rests) (tooling)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knowledge, complementary — without either, the run won’t finish.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PATTERNS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5: layered delegation of autonomy (the core)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had Claude build a safe frame (L0/L1/L2) for OpenEvolve — only with it in place did I dare let go. Back to the safety constitution.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5440680" cy="2651760"/>
          </a:xfrm>
          <a:prstGeom prst="rect">
            <a:avLst/>
          </a:prstGeom>
          <a:solidFill>
            <a:srgbClr val="F7E9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880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4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Unprotected earlier run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5200" b="1" dirty="0">
                <a:solidFill>
                  <a:srgbClr val="C04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36%</a:t>
            </a:r>
            <a:endParaRPr lang="en-US" sz="5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5200" dirty="0">
                <a:solidFill>
                  <a:srgbClr val="23272E"/>
                </a:solidFill>
              </a:rPr>
              <a:t>of iterations crash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6217920" y="2651760"/>
            <a:ext cx="5440680" cy="2651760"/>
          </a:xfrm>
          <a:prstGeom prst="rect">
            <a:avLst/>
          </a:prstGeom>
          <a:solidFill>
            <a:srgbClr val="E7F2E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architecture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338328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52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5200" dirty="0">
                <a:solidFill>
                  <a:srgbClr val="23272E"/>
                </a:solidFill>
              </a:rPr>
              <a:t>tool-calling crashes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548640" y="557784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precondition for delegating autonomy: first build a “worst case is only degradation” guardrail.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guardrails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interaction_tool_wrapper.py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(L0)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retrieval_executor.py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(L1)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tool_loader.py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(L2)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PATTERNS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collaboration patterns · one-page recap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109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928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737360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deepen design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0" y="1737360"/>
            <a:ext cx="6035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open question → the failure taxonomy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633472"/>
            <a:ext cx="11109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788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2633472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reporting catches bugs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0" y="2633472"/>
            <a:ext cx="6035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agent.tools == [] surfaced proactively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529584"/>
            <a:ext cx="11109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6850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3529584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gatekeep irreversibles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0" y="3529584"/>
            <a:ext cx="6035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/ brew / new repo — ask before acting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425696"/>
            <a:ext cx="11109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58114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4425696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Complementary knowledge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0" y="4425696"/>
            <a:ext cx="6035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environment sense × Claude’s tooling detail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5321808"/>
            <a:ext cx="11109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4772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477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17320" y="5321808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Layered delegation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86400" y="5321808"/>
            <a:ext cx="6035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guardrails first, then let it evolve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48640" y="61996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Which pattern could you use in your own project tomorrow?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CLIMAX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iter22: an emergent product of three-layer collaboration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3520440" cy="109728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(Human)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to run 50 iters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caffeinate to run overnight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70832" y="182880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0832" y="1828800"/>
            <a:ext cx="3520440" cy="109728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103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9432" y="26060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L0/L1/L2 frame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evolution, analyzed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93024" y="182880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93024" y="1828800"/>
            <a:ext cx="3520440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8421624" y="2103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21624" y="26060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evolved iter22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formula (0.842)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11109960" cy="1874520"/>
          </a:xfrm>
          <a:prstGeom prst="rect">
            <a:avLst/>
          </a:prstGeom>
          <a:solidFill>
            <a:srgbClr val="1118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4343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iter22 formula (excerpt) — nobody taught it; only three-layer collaboration grows 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7548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user_std &lt; 0.7:  predicted = user_mean + 0.55·(item_mean − user_mean)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&lt; 1.0: +0.45·…   elif &lt; 1.3: +0.30·…   else: user_median + 0.20·…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clamp [1,5] · round 0.5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Evolution target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config/agents_evolving.yaml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EVOLVE-BLOCK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CLIMAX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deeper part: “after” iter22 — a local optimum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had Claude trace every descendant of iter22 — conclusion: no better offspring appeared after 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1109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377440"/>
            <a:ext cx="109728" cy="80467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377440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5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Over-engineering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023360" y="2377440"/>
            <a:ext cx="7498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4-segment formula → 5, 6 segments, more parameters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109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291840"/>
            <a:ext cx="109728" cy="80467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291840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5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Sub-metrics trade off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023360" y="3291840"/>
            <a:ext cx="7498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wobbles, review_generation regresses → score stalls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11109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206240"/>
            <a:ext cx="109728" cy="80467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206240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5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Islands converge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023360" y="4206240"/>
            <a:ext cx="7498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OpenEvolve splits the pool into 3 independent “islands”; migration then spreads iter22’s genes across them → diversity collapses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10996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5257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Claude’s diagnosis for me: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iter22 is a local optimum. OpenEvolve can “find” it, but “why it’s stuck and how to escape” is structurally beyond a prospector — it has no concept of “local optimum”.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Island/migration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config/openevolve_config.yaml:71-78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(num_islands:3, migration)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CLIMAX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how do you escape the local optimum?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Escaping isn’t “run more generations” (that just over-complicates the formula) — it’s turning three knobs at once: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204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65960"/>
            <a:ext cx="352044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21945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2128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TASKS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treats: weak fitness signal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20040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tasks per evaluate; grow the train set (198 available, only 5 used now)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4480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to-do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70832" y="1965960"/>
            <a:ext cx="35204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0832" y="1965960"/>
            <a:ext cx="352044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0" y="21945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48072" y="22128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Diversify island seeds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99432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treats: island convergence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99432" y="320040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each island with a different design philosophy; longer migration_interval, lower migration_rate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99432" y="4480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to-do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93024" y="1965960"/>
            <a:ext cx="35204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93024" y="1965960"/>
            <a:ext cx="352044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Shape 22"/>
          <p:cNvSpPr/>
          <p:nvPr/>
        </p:nvSpPr>
        <p:spPr>
          <a:xfrm>
            <a:off x="8394192" y="21945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/>
          <p:nvPr/>
        </p:nvSpPr>
        <p:spPr>
          <a:xfrm>
            <a:off x="8394192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970264" y="22128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tool evolution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21624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treats: search space exhausted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21624" y="320040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evolvable_tools.py truly evolve (+ n_tools dimension) — new raw material for the search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421624" y="4480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to-do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029200"/>
            <a:ext cx="1110996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68680" y="50292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safety net: 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confirms gains are real generalization; MAP-Elites keeps review_generation as a dimension to protect text quality.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First two treat “stuck in place”, the third gives “a new direction”.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more tasks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openevolve_evaluator.py:115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islands/migration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openevolve_config.yaml:71-78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tool evolution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evolvable_tools.py:18-58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CLIMAX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 “failure” is a shared insight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low-score crashes → I had Claude comb the data for causes: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440680" cy="2194560"/>
          </a:xfrm>
          <a:prstGeom prst="rect">
            <a:avLst/>
          </a:prstGeom>
          <a:solidFill>
            <a:srgbClr val="F7E9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0175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4400" b="1" dirty="0">
                <a:solidFill>
                  <a:srgbClr val="C04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5×</a:t>
            </a:r>
            <a:endParaRPr lang="en-US" sz="4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4400" dirty="0">
                <a:solidFill>
                  <a:srgbClr val="23272E"/>
                </a:solidFill>
              </a:rPr>
              <a:t>broken YAML syntax</a:t>
            </a:r>
            <a:pPr indent="0" marL="0">
              <a:lnSpc>
                <a:spcPts val="3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(full-rewrite risk, bypasses clamp)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6217920" y="2743200"/>
            <a:ext cx="5440680" cy="2194560"/>
          </a:xfrm>
          <a:prstGeom prst="rect">
            <a:avLst/>
          </a:prstGeom>
          <a:solidFill>
            <a:srgbClr val="FBF1E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30175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4400" b="1" dirty="0">
                <a:solidFill>
                  <a:srgbClr val="B5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4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4400" dirty="0">
                <a:solidFill>
                  <a:srgbClr val="23272E"/>
                </a:solidFill>
              </a:rPr>
              <a:t>rate limit 429</a:t>
            </a:r>
            <a:pPr indent="0" marL="0">
              <a:lnSpc>
                <a:spcPts val="3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(NVIDIA NIM throttling)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48640" y="53949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Collaboration produces not only successes but shared understanding of failure — both read together across all three layers.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diff_based_evolution:false (full-rewrite risk) see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openevolve_config.yaml:18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REFLECTION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should do what?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11680"/>
            <a:ext cx="3520440" cy="128016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2860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(Human) do it myself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9808" y="30632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· value judgments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 decisions · domain/physical knowledge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70832" y="201168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0832" y="2011680"/>
            <a:ext cx="3520440" cy="128016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2860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Delegate to Claude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0" y="30632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· verify · analyze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· honest reporting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93024" y="201168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93024" y="2011680"/>
            <a:ext cx="3520440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8394192" y="22860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 to evolution (OpenEvolve)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94192" y="30632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exploration &amp; invention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safe frame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split the work by three criteria: reversibility · whether value judgment is needed · size of the search space.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Mapping: Me→config/*.yaml ｜ Claude→src/ + tests/ ｜ evolution→EVOLVE-BLOCK (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agents_evolving.yaml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evolvable_tools.py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REFLECTION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109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2996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8288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can design agents, but must be stopped from breaking itself → guardrails stronger the deeper you go (worst case = degradation)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11109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03580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8346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Protocol/policy split + graceful degradation = safely-evolvable terrain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11109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04164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8404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reporting + human gatekeeping of irreversibles = the safety bedrock; a healthy score ≠ correct behavior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11109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504748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047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8463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questions drive good design; even failures can be understood together; don’t trust docs, read the source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Back to the opening: is your AI a tool, or a partner?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1737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· Q &amp; A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0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real product isn’t just a 0.842 agent —</a:t>
            </a:r>
            <a:endParaRPr lang="en-US" sz="2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0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it’s a “human + AI + evolution” safe-collaboration workflow.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457200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2E9E6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572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3756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0" y="457200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3A5BA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0" y="4572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0" y="457200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0" y="4572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5760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docs/{collaboration_workflow_outline, teaching_slides_outline, unified_deck_outline, evolution_design_notes}.md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× AI × Evolution — Building a Safely-Evolvable Agent System</dc:title>
  <dc:subject>PptxGenJS Presentation</dc:subject>
  <dc:creator>AgentSocietyChallenge_OpenEvolve</dc:creator>
  <cp:lastModifiedBy>AgentSocietyChallenge_OpenEvolve</cp:lastModifiedBy>
  <cp:revision>1</cp:revision>
  <dcterms:created xsi:type="dcterms:W3CDTF">2026-06-16T00:41:00Z</dcterms:created>
  <dcterms:modified xsi:type="dcterms:W3CDTF">2026-06-16T00:41:00Z</dcterms:modified>
</cp:coreProperties>
</file>