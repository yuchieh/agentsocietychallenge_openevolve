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方向</c:v>
                </c:pt>
              </c:strCache>
            </c:strRef>
          </c:tx>
          <c:spPr>
            <a:solidFill>
              <a:srgbClr val="3A5BA0"/>
            </a:solidFill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4.5</c:v>
                </c:pt>
                <c:pt idx="1">
                  <c:v>4.5</c:v>
                </c:pt>
                <c:pt idx="2">
                  <c:v>3.5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4.5</c:v>
                </c:pt>
                <c:pt idx="8">
                  <c:v>2.5</c:v>
                </c:pt>
                <c:pt idx="9">
                  <c:v>5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4.5</c:v>
                </c:pt>
                <c:pt idx="1">
                  <c:v>4</c:v>
                </c:pt>
                <c:pt idx="2">
                  <c:v>4.5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  <c:pt idx="8">
                  <c:v>5</c:v>
                </c:pt>
                <c:pt idx="9">
                  <c:v>2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.5"/>
          <c:min val="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新穎性 →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5.5"/>
          <c:min val="1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可行性 →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combined_score</c:v>
                </c:pt>
              </c:strCache>
            </c:strRef>
          </c:tx>
          <c:spPr>
            <a:solidFill>
              <a:srgbClr val="3A5BA0"/>
            </a:solidFill>
            <a:ln w="38100" cap="flat">
              <a:solidFill>
                <a:srgbClr val="3A5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A5BA0"/>
              </a:solidFill>
              <a:ln w="9525" cap="flat">
                <a:solidFill>
                  <a:srgbClr val="3A5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it0</c:v>
                  </c:pt>
                  <c:pt idx="1">
                    <c:v>it1</c:v>
                  </c:pt>
                  <c:pt idx="2">
                    <c:v>it2</c:v>
                  </c:pt>
                  <c:pt idx="3">
                    <c:v>it3</c:v>
                  </c:pt>
                  <c:pt idx="4">
                    <c:v>it4</c:v>
                  </c:pt>
                  <c:pt idx="5">
                    <c:v>it5</c:v>
                  </c:pt>
                  <c:pt idx="6">
                    <c:v>it6</c:v>
                  </c:pt>
                  <c:pt idx="7">
                    <c:v>it7</c:v>
                  </c:pt>
                  <c:pt idx="8">
                    <c:v>it8</c:v>
                  </c:pt>
                  <c:pt idx="9">
                    <c:v>it9</c:v>
                  </c:pt>
                  <c:pt idx="10">
                    <c:v>it10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</c:v>
                </c:pt>
                <c:pt idx="1">
                  <c:v>0.28</c:v>
                </c:pt>
                <c:pt idx="2">
                  <c:v>0.65</c:v>
                </c:pt>
                <c:pt idx="3">
                  <c:v>0.55</c:v>
                </c:pt>
                <c:pt idx="4">
                  <c:v>0.6</c:v>
                </c:pt>
                <c:pt idx="5">
                  <c:v>0.35</c:v>
                </c:pt>
                <c:pt idx="6">
                  <c:v>0.71</c:v>
                </c:pt>
                <c:pt idx="7">
                  <c:v>0.35</c:v>
                </c:pt>
                <c:pt idx="8">
                  <c:v>0.35</c:v>
                </c:pt>
                <c:pt idx="9">
                  <c:v>0.79</c:v>
                </c:pt>
                <c:pt idx="10">
                  <c:v>0.35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elites</c:v>
                </c:pt>
              </c:strCache>
            </c:strRef>
          </c:tx>
          <c:spPr>
            <a:solidFill>
              <a:srgbClr val="E8A33D"/>
            </a:solidFill>
            <a:ln>
              <a:noFill/>
            </a:ln>
            <a:effectLst/>
          </c:spPr>
          <c:marker>
            <c:symbol val="circle"/>
            <c:size val="13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0.3</c:v>
                </c:pt>
                <c:pt idx="1">
                  <c:v>0.8</c:v>
                </c:pt>
                <c:pt idx="2">
                  <c:v>0.5</c:v>
                </c:pt>
                <c:pt idx="3">
                  <c:v>0.9</c:v>
                </c:pt>
                <c:pt idx="4">
                  <c:v>0.4</c:v>
                </c:pt>
                <c:pt idx="5">
                  <c:v>0.7</c:v>
                </c:pt>
                <c:pt idx="6">
                  <c:v>0.6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0.85</c:v>
                </c:pt>
                <c:pt idx="1">
                  <c:v>0.35</c:v>
                </c:pt>
                <c:pt idx="2">
                  <c:v>0.6</c:v>
                </c:pt>
                <c:pt idx="3">
                  <c:v>0.7</c:v>
                </c:pt>
                <c:pt idx="4">
                  <c:v>0.5</c:v>
                </c:pt>
                <c:pt idx="5">
                  <c:v>0.8</c:v>
                </c:pt>
                <c:pt idx="6">
                  <c:v>0.55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preference_estimation →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review_generation →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× CREWAI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1031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 OpenEvolve 進化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Agent Crew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從「會崩潰的 Tool Calling」到「安全可進化的多代理系統」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AgentSociety Challenge · Tool Calling Failure Taxonomy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議程與學習目標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背景與問題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競賽任務、CrewAI、OpenEvolve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事故與分類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5 層失效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73736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1540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分層解法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23042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/ L1 / L2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可信機制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過擬合、MAP-Elites、Rate Limit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2064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工程教訓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2064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兩個真 bug、金句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3154680"/>
            <a:ext cx="3566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1540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結果與展望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37216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數據、全景、未來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8006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學習目標   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進化式優化如何套用在 agent 設計 · 5 層失效與防護 · 協議/策略分離 + 優雅退化 · 讓自動優化變可信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競賽任務：模擬用戶行為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1：</a:t>
            </a:r>
            <a:pPr indent="0" marL="0">
              <a:buNone/>
            </a:pPr>
            <a:r>
              <a:rPr lang="en-US" sz="17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預測某用戶會對某商家給出的 </a:t>
            </a:r>
            <a:pPr indent="0" marL="0">
              <a:buNone/>
            </a:pPr>
            <a:r>
              <a:rPr lang="en-US" sz="17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{stars, review}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94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怎麼算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overall_quality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(preference_estimation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review_generation) /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preference_estimation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 — 評分準度（1 − 正規化星等 MAE）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review_generation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 — 文字相似度（情感+情緒+主題）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560320"/>
            <a:ext cx="5440680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這兩個分項常此消彼長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3337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「評分超準但文字平庸」 vs 「文字生動但評分偏掉」——後面 #6 會用這個張力做文章。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預測的不是真相，是「這個用戶會怎麼反應」 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基礎架構：CrewAI 三代理流水線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4 種資料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77640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26280" y="237744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psychological_analyst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分析偏好 / 評分習慣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863840" y="28346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412480" y="2377440"/>
            <a:ext cx="3291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377440"/>
            <a:ext cx="3291840" cy="109728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2743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behavior_simulator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41080" y="3429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 {stars, review}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Process.sequential — 前一棒的輸出，是後一棒的 context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OpenEvolve 的任務：不只進化 prompt 文字，而是優化這條流水線的「各個面向」——工具使用、任務設計、甚至拓撲。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OpenEvolve：用 LLM 進化程式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AlphaEvolve 的開源實作 — 反覆「突變 → 評分 → 選擇」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從族群採樣 parent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82112" y="2834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2044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434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4904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突變程式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62472" y="2834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0080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評分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42832" y="28346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281160" y="24688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09760" y="269748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041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09760" y="32461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保留精英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關鍵元件   </a:t>
            </a:r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資料庫 · Island 多島模型 · EVOLVE-BLOCK 標記 · combined_score 當 fitness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核心問題：如何讓系統「自己設計自己」——又不讓它把自己改壞？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個可優化方向（新穎性 × 可行性）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783080"/>
            <a:ext cx="42519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3524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今天的主線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25146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確定性檢索 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→ 透過 L1 落地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 Train/Val 切分  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 MAP-Elites 維度  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635240" y="4114800"/>
            <a:ext cx="37947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42976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共同約束　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rate limit — v3 進化 </a:t>
            </a:r>
            <a:pPr indent="0" marL="0">
              <a:buNone/>
            </a:pPr>
            <a:r>
              <a:rPr lang="en-US" sz="13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iteration 失敗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。凡能減少 LLM call 的方向都有雙重價值。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事故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事故現場：進化把系統改崩了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進化中，agent prompt 的突變導致 tool 呼叫失效 → 整條 pipeline 崩潰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2468880"/>
            <a:ext cx="352044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21040" y="2743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0.35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36676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分數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366760" y="4114800"/>
            <a:ext cx="3154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iteration 反覆掉到這個地板——工具呼叫一壞，預測流程整個垮掉。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事故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Calling Failure Taxonomy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786384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呼叫協議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1691640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格式被改壞 → parser 抓不到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606040"/>
            <a:ext cx="109728" cy="7863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060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26060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參數正確性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2606040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query_type 亂掰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20440"/>
            <a:ext cx="109728" cy="78638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204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5204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呼叫策略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97680" y="3520440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「不查了，直接猜」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34840"/>
            <a:ext cx="109728" cy="786384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348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44348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結果消化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97680" y="4434840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上千筆 review 怎麼取樣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109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5349240"/>
            <a:ext cx="109728" cy="786384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4924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28800" y="534924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下游契約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97680" y="5349240"/>
            <a:ext cx="7315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結構爛掉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原本只有 L1 有防護（tasks.yaml 凍結），L2–L5 全裸露 — 這張是全場骨架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關鍵洞察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19456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只告訴你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「壞了」，不告訴你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「哪裡壞了」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這就是為什麼有些突變看似無害，卻造成崩潰——單一純量分數無法做 credit assignment。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原則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設計原則：協議 / 策略分離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1737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協議層（Protocol）— 凍結、機器驗證、程式碼強制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「工具怎麼被呼叫」：函式簽名、參數 schema、ReAct 格式、回傳格式、註冊機制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1109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749040"/>
            <a:ext cx="109728" cy="173736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31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策略層（Policy）— 自由進化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「工具被怎麼使用」：查什麼、查多少、何時查、怎麼消化結果、甚至「需要什麼新工具」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安全憲法　</a:t>
            </a:r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最壞 = 優雅退化（graceful degradation），絕不是災難性崩潰。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解法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分層解法：L0 → L1 → L2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67128"/>
            <a:ext cx="457200" cy="45720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441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看得見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7830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工具呼叫可觀測性 — 把盲區變訊號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11109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584448"/>
            <a:ext cx="457200" cy="457200"/>
          </a:xfrm>
          <a:prstGeom prst="ellipse">
            <a:avLst/>
          </a:prstGeom>
          <a:solidFill>
            <a:srgbClr val="3A5BA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安全地用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320040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把工具呼叫從 LLM 拿走 → 確定性 executor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109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5001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01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800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276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安全地造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461772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讓進化發明新工具 — 四道關卡沙箱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每一層都遵守同一條安全憲法：最壞只是低分，不是崩潰。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L0：工具呼叫可觀測性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做了什麼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thread-safe 呼叫日誌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每條路徑記錄 (query_type, ok)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evaluator 整理成 artifacts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total_calls / coverage / missing_essential 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下一輪突變的 prompt 看得到「missing_essential: [user]」這種診斷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492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為什麼是地基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 L0，L1 的 clamp、L2 的 quarantine 效果全都「看不見」——只能瞎子摸象。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41148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設計重點　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純觀測增量 / env var opt-in — 預設行為逐位元不變。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L1：把工具呼叫從 LLM 手上拿走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進化端宣告 </a:t>
            </a:r>
            <a:pPr indent="0" marL="0">
              <a:buNone/>
            </a:pPr>
            <a:r>
              <a:rPr lang="en-US" sz="16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（查什麼、取樣、截斷）；凍結端 executor 直譯。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486400" cy="374904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9748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queries: [user, item,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review_by_user]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review_sampling: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strategy: recent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k: 15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max_chars_per_result: 6000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377440"/>
            <a:ext cx="5349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clamp, don't reject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31089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3272E"/>
                </a:solidFill>
              </a:rPr>
              <a:t>非法值投影回合法空間，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2E9E6B"/>
                </a:solidFill>
              </a:rPr>
              <a:t>永不 raise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3272E"/>
                </a:solidFill>
              </a:rPr>
              <a:t>。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k=999999 → 50 · 亂掰 query → 過濾 · 整個爛掉 → 退預設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最壞 = 退化成 baseline 檢索，pipeline 永不崩。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最大誤解：白名單 ≠ 沒有進化空間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ALLOWED_QUERIES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 = 字母表（what is permitted）　凍結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retrieval_policy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 = 用字母拼出的句子（what is chosen）　進化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個字母固定，但能寫出無限多句子。同一個白名單下，不同 policy（查哪些子集、什麼順序、取樣策略、k、截斷）餵給下游的 context 天差地別。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1109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真正的天花板是資料集</a:t>
            </a:r>
            <a:pPr indent="0" marL="0">
              <a:buNone/>
            </a:pPr>
            <a:r>
              <a:rPr lang="en-US" sz="16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（只有 user / item / review 三張表），不是白名單——後者只是忠實反映底層資料邊界。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接線：data_retriever 從「呼叫者」轉「萃取者」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[有 tool]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  ↓ LLM ReAct 呼叫 wrapper ×4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23272E"/>
                </a:solidFill>
              </a:rPr>
              <a:t>  ↓ 整理成 summary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使用者是 LLM — 會崩潰的那種。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40680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接線後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executor 確定性檢索（crew 前）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↓ retrieved_context 注入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[無 tool]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 ↓ 只萃取 {retrieved_context}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純文字任務 — 不會在工具呼叫上崩潰。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L2：讓進化發明工具 — 四道關卡沙箱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資料固定（三張表）→「新工具」= 有界特徵工程，不是無界程式生成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578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AST 安全掃描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035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擋 import / open / exec / dunder 逃逸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23774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2823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25786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簽名約定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3035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只認 tool_* + (kit, user_id, item_id)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178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沙箱試跑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6360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timeout，壞工具靜默丟棄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9776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8232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282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4178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包裝註冊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46360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agent 看到的工具說明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ReadOnlyKit　</a:t>
            </a:r>
            <a:pPr indent="0" marL="0">
              <a:buNone/>
            </a:pPr>
            <a:r>
              <a:rPr lang="en-US" sz="13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只暴露 get_user / get_item / get_reviews — 萬流歸宗到唯讀資料，碰不到檔案系統 / 網路 / groundtruth。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L2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共同進化 + 工具裝在「決策點」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共同進化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 品質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agent 呼叫 / 不呼叫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資訊是否進入推理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combined_score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OpenEvolve selection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3272E"/>
                </a:solidFill>
              </a:rPr>
              <a:t>  ↓ 基因存續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「工具的可被發現性」也受進化壓力。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492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裝給 psychological_analyst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ADCFC"/>
                </a:solidFill>
              </a:rPr>
              <a:t>資料點 → 決策點 → 輸出點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FFFFF"/>
                </a:solidFill>
              </a:rPr>
              <a:t>工具裝在「判斷發生的地方」。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0" y="3657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為何不是 data_retriever？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會把 L1 剛清掉的崩潰風險請回來 · 職責混淆 · 時機太早（還沒分析脈絡）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可信機制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#7 Train / Val 切分：過擬合照妖鏡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進化會「背答案」——對那幾個 train task 特化但不泛化。disjoint holdout 揪出它。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40680" cy="329184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過擬合（假冠軍）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0.90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C045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0.40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C0453B"/>
                </a:solidFill>
              </a:rPr>
              <a:t>差距 0.50 → 🚨 警報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440680" cy="329184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真泛化（可信）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2918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 0.75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holdout  0.72</a:t>
            </a:r>
            <a:endParaRPr lang="en-US" sz="15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500" b="1" dirty="0">
                <a:solidFill>
                  <a:srgbClr val="2E9E6B"/>
                </a:solidFill>
              </a:rPr>
              <a:t>差距 0.03 → ✅ 真的學會了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validate-holdout — disjoint 已驗證 overlap = 0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可信機制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#6 MAP-Elites 自訂維度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 combined_score 會把兩種極端高手壓成中間值而淘汰。改用兩個分項當 diversity 維度。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2468880"/>
            <a:ext cx="4800600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3232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fitness vs feature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32320" y="32004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combined_score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決定誰勝出（fitness）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preference × review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 只決定座標（多樣性）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0" y="4846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trade-off 前沿各路精英，雜交出兼顧者。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工程教訓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兩個真 bug，一句金句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#1 — 受限沙箱的 __import__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移除 __import__ 後，連白名單的 import statistics 都失效。縱深防禦要留「安全的門」。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49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#2 — @tool 需要 docstring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combined_score=0.8452 看似完美，但 agent.tools == [] — 工具根本沒裝上。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1110996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4343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 分數健康 ≠ 功能正確 ”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5074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會讓「沒裝上工具」偽裝成「分數正常」。驗證要查功能本身（tools 清單），不能只看分數。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結果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接線前後：穩定性的轉變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1099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3703320"/>
                <a:gridCol w="370332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指標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v3（接線前）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L1 接線後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 task LLM 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~7（含 ReAct 來回）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calling 崩潰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多次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tool_use coverage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不穩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穩定 1.0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 rate limit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59 次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9E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大幅減少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進化跑：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v1 best 0.79 · v3 best 0.64（rate limit 重災）· L1 驗證 0.78 · 單元測試 46 全綠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結果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完成全景 +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Taxonomy 進度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L0  可觀測性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L1  clamp + 接線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#7  Train-Val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#6  MAP-Elites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L2  工具生成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⬜ Tier C  RagTool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20848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57800" y="182880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進化能設計 agent，但要防它把自己改壞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292608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318211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800" y="292608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協議/策略分離 + 優雅退化 = 可安全進化的地形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434840" y="402336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42793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7800" y="402336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自動優化要配可信機制（holdout、MAP-Elites）才不自欺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434840" y="5120640"/>
            <a:ext cx="7223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53766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5120640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分數健康 ≠ 功能正確；不盡信文件，讀原始碼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謝謝 · Q &amp; 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　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github.com/yuchieh/AgentSocietyChallenge_OpenEvolve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深入　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docs/evolution_design_notes.md · docs/student_integration_guide.md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OpenEvolve 進化 LLM Agent Crew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2026-06-14T14:03:07Z</dcterms:created>
  <dcterms:modified xsi:type="dcterms:W3CDTF">2026-06-14T14:03:07Z</dcterms:modified>
</cp:coreProperties>
</file>