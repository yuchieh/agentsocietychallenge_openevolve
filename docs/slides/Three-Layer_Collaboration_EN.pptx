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it: three agents collaborate, and I delegate autonomy down a three-layer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Pose the opening question: is your AI a tool, or a partner that makes its own decisions?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parts: architecture, roles, five patterns, the iter22 climax, reflection, and closing.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three players — me, Claude, and OpenEvolve — two of them AI but in very different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Autonomy rises as you go inward, and so must the guardrails — this is delegation, not tool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is the intentional architect; OpenEvolve the intentionless prospector — different species, complementary.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layer's autonomy is matched by a guardrail; the more I let go, the stronger the guardrail.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PR and experiment runs the same loop: my intent, Claude builds, verify, honest report, I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increasingly uses other AIs, so collaboration is multi-layer — the question is how to delegate safely.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job is the steering wheel and the brake: direction, irreversible calls, questions, gatekeeping.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implements, verifies by reading the source, analyzes data, and reports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OpenEvolve mutates autonomously inside the frame — it evolved the rating formula nobody wrote.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of the three is optional; remove my layer and there's no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good question beats a good answer — my open question forced the failure taxonomy.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reporting caught the bug: a 0.84 score hid that the tools never actually attached.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gatekeep irreversible actions — Claude asks before merging, installing, or changing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Knowledge is complementary: my environment sense plus Claude's tooling detail got the run finished.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pattern: build guardrails first, then delegate — 36% crashes became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five patterns and ask which one they could use tomorrow.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layers contributed to iter22 — my decision, Claude's frame, OpenEvolve's formula.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single layer could have produced iter22 — it's an emergent product of the collaboration.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iter22 came over-engineering, sub-metric trade-offs, and island convergence — a local optimum.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 the eight crashes became insight: five broken YAML, three rate limits — failure understood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rubric: I take direction and irreversibles, Claude takes implementation, evolution takes bounded exploration.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Delegating autonomy is a new skill; honesty plus human gatekeeping is the safety bedrock.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real product is a reusable human-plus-AI-plus-evolution workflow, not just a 0.84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evolvable_tools.py#L18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config/agents.yaml" TargetMode="External"/><Relationship Id="rId2" Type="http://schemas.openxmlformats.org/officeDocument/2006/relationships/hyperlink" Target="https://github.com/yuchieh/AgentSocietyChallenge_OpenEvolve/blob/facfd59aceddfe0ce7f7499f93af16566d8002c2/config/agents_evolving.yaml" TargetMode="External"/><Relationship Id="rId3" Type="http://schemas.openxmlformats.org/officeDocument/2006/relationships/hyperlink" Target="https://github.com/yuchieh/AgentSocietyChallenge_OpenEvolve/blob/facfd59aceddfe0ce7f7499f93af16566d8002c2/evolvable_tools.py#L18-L58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config/agents_evolving.yaml#L1-L44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tool_loader.py" TargetMode="External"/><Relationship Id="rId2" Type="http://schemas.openxmlformats.org/officeDocument/2006/relationships/hyperlink" Target="https://github.com/yuchieh/AgentSocietyChallenge_OpenEvolve/blob/facfd59aceddfe0ce7f7499f93af16566d8002c2/evolvable_tools.py#L18-L58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retrieval_executor.py#L53" TargetMode="External"/><Relationship Id="rId2" Type="http://schemas.openxmlformats.org/officeDocument/2006/relationships/hyperlink" Target="https://github.com/yuchieh/AgentSocietyChallenge_OpenEvolve/blob/facfd59aceddfe0ce7f7499f93af16566d8002c2/src/tools/tool_loader.py#L77-L177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config/agents_evolving.yaml#L1-L44" TargetMode="External"/><Relationship Id="rId2" Type="http://schemas.openxmlformats.org/officeDocument/2006/relationships/hyperlink" Target="https://github.com/yuchieh/AgentSocietyChallenge_OpenEvolve/blob/facfd59aceddfe0ce7f7499f93af16566d8002c2/evolvable_tools.py#L18-L58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crews/simulation_crew.py#L21-L30" TargetMode="External"/><Relationship Id="rId2" Type="http://schemas.openxmlformats.org/officeDocument/2006/relationships/hyperlink" Target="https://github.com/yuchieh/AgentSocietyChallenge_OpenEvolve/blob/facfd59aceddfe0ce7f7499f93af16566d8002c2/src/tools/tool_loader.py#L164" TargetMode="External"/><Relationship Id="rId3" Type="http://schemas.openxmlformats.org/officeDocument/2006/relationships/hyperlink" Target="https://github.com/yuchieh/AgentSocietyChallenge_OpenEvolve/blob/facfd59aceddfe0ce7f7499f93af16566d8002c2/tests/test_tool_loader.py#L185-L203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interaction_tool_wrapper.py" TargetMode="External"/><Relationship Id="rId2" Type="http://schemas.openxmlformats.org/officeDocument/2006/relationships/hyperlink" Target="https://github.com/yuchieh/AgentSocietyChallenge_OpenEvolve/blob/facfd59aceddfe0ce7f7499f93af16566d8002c2/src/tools/retrieval_executor.py" TargetMode="External"/><Relationship Id="rId3" Type="http://schemas.openxmlformats.org/officeDocument/2006/relationships/hyperlink" Target="https://github.com/yuchieh/AgentSocietyChallenge_OpenEvolve/blob/facfd59aceddfe0ce7f7499f93af16566d8002c2/src/tools/tool_loader.py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config/agents_evolving.ya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config/openevolve_config.yaml#L71-L78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config/openevolve_config.yaml#L18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config/agents_evolving.yaml" TargetMode="External"/><Relationship Id="rId2" Type="http://schemas.openxmlformats.org/officeDocument/2006/relationships/hyperlink" Target="https://github.com/yuchieh/AgentSocietyChallenge_OpenEvolve/blob/facfd59aceddfe0ce7f7499f93af16566d8002c2/evolvable_tools.py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645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× CLAUDE CODE × OPENEVOLVE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68680" y="205740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Three-Layer AI Collaboration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AI also directs another AI — how I delegate autonomy layer by layer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914400" y="475488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2E9E6B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4754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520440" y="4754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97680" y="475488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3A5BA0"/>
          </a:solidFill>
          <a:ln/>
        </p:spPr>
      </p:sp>
      <p:sp>
        <p:nvSpPr>
          <p:cNvPr id="11" name="Text 8"/>
          <p:cNvSpPr/>
          <p:nvPr/>
        </p:nvSpPr>
        <p:spPr>
          <a:xfrm>
            <a:off x="4297680" y="4754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903720" y="4754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80960" y="475488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E8A33D"/>
          </a:solidFill>
          <a:ln/>
        </p:spPr>
      </p:sp>
      <p:sp>
        <p:nvSpPr>
          <p:cNvPr id="14" name="Text 11"/>
          <p:cNvSpPr/>
          <p:nvPr/>
        </p:nvSpPr>
        <p:spPr>
          <a:xfrm>
            <a:off x="7680960" y="4754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1440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talk about safe “human + AI + evolution” collaboration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layers map to: Me→config/*.yaml ｜ Claude→src/ + tests/ ｜ OpenEvolve→EVOLVE-BLOCK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unusual collaboration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has three “agents” collaborating — not one person using one tool.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834640"/>
            <a:ext cx="11109960" cy="182880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31546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3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A question to sit with:</a:t>
            </a:r>
            <a:endParaRPr lang="en-US" sz="23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you use AI, is it “you + a tool”,</a:t>
            </a:r>
            <a:pPr indent="0" marL="0">
              <a:lnSpc>
                <a:spcPts val="3800"/>
              </a:lnSpc>
              <a:buNone/>
            </a:pPr>
            <a:r>
              <a:rPr lang="en-US" sz="23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 “you + a partner that makes its own decisions”?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48640" y="5029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talk is the latter — and the partner brings a partner of its own.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agents: Me (decisions) · Claude (builds in src/) · OpenEvolve (mutates inside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evolvable_tools.py:18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EVOLVE-BLOCK)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&amp; learning goals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25880" y="1920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Collaboration architecture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25880" y="23591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layers · autonomy vs guardrails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1737360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2628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45262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120640" y="1920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Roles &amp; responsibilities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120640" y="23591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/ Claude / OpenEvolve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92440" y="1737360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32104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8321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915400" y="1920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collaboration patterns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915400" y="23591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Transferable to your project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" y="3154680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325880" y="3337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Climax case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325880" y="37764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birth of iter22 — and after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297680" y="3154680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2628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5"/>
          <p:cNvSpPr/>
          <p:nvPr/>
        </p:nvSpPr>
        <p:spPr>
          <a:xfrm>
            <a:off x="452628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5120640" y="3337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120640" y="37764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should do what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2440" y="3154680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32104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0"/>
          <p:cNvSpPr/>
          <p:nvPr/>
        </p:nvSpPr>
        <p:spPr>
          <a:xfrm>
            <a:off x="83210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8915400" y="3337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8915400" y="37764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home a workflow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02920" y="480060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want you to take away   </a:t>
            </a:r>
            <a:pPr indent="0" marL="0"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multi-layer AI collaboration architecture · how to set “autonomy vs guardrails” · 5 patterns · one rubric: what I do / delegate to AI / hand to evolution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text: docs/collaboration_workflow_outline.md ｜ Technical details: docs/evolution_design_notes.md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ARCHITECTURE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the three roles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2011680"/>
            <a:ext cx="3520440" cy="128016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(Human)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presenter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33832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direction · decide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· gatekeep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70832" y="201168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70832" y="2011680"/>
            <a:ext cx="3520440" cy="128016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3" name="Text 10"/>
          <p:cNvSpPr/>
          <p:nvPr/>
        </p:nvSpPr>
        <p:spPr>
          <a:xfrm>
            <a:off x="4599432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99432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building partner (AI)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99432" y="33832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· verify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· report honestly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193024" y="201168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193024" y="2011680"/>
            <a:ext cx="3520440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5"/>
          <p:cNvSpPr/>
          <p:nvPr/>
        </p:nvSpPr>
        <p:spPr>
          <a:xfrm>
            <a:off x="8421624" y="2331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OpenEvolve’s LLM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421624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explorer Claude drives (AI)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421624" y="33832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 autonomously · invent tools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evolution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48640" y="539496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the last two are both AI, yet play completely different roles; I stand at the outermost layer, directing.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Me+Claude write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config/agents.yaml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(production)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config/agents_evolving.yaml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(seed) ｜ OpenEvolve edits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evolvable_tools.py:18-58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ARCHITECTURE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Nested layers: a chain of delegated autonomy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2377440"/>
            <a:ext cx="3246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2377440"/>
            <a:ext cx="3246120" cy="109728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788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(Human)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3383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/ decisions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0" y="2743200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directs ▶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26280" y="2377440"/>
            <a:ext cx="3246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26280" y="2377440"/>
            <a:ext cx="3246120" cy="109728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0" y="2788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754880" y="3383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/ judgment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26680" y="2743200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directs ▶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412480" y="2377440"/>
            <a:ext cx="32461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412480" y="2377440"/>
            <a:ext cx="3246120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5"/>
          <p:cNvSpPr/>
          <p:nvPr/>
        </p:nvSpPr>
        <p:spPr>
          <a:xfrm>
            <a:off x="8641080" y="27889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 LLM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641080" y="3383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exploration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" y="457200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autonomy rises to the right   |   guardrails must rise to the right too →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isn’t “me using a tool” — it’s me delegating autonomy down a three-layer chain.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Me→config/*.yaml ｜ Claude→src/tools/ + src/crews/ + src/flows/ ｜ OpenEvolve→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agents_evolving.yaml:1-44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EVOLVE-BLOCK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ARCHITECTURE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× OpenEvolve: architect vs prospector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394960" cy="1783080"/>
          </a:xfrm>
          <a:prstGeom prst="rect">
            <a:avLst/>
          </a:prstGeom>
          <a:solidFill>
            <a:srgbClr val="EAF0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783080"/>
            <a:ext cx="109728" cy="178308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= the architect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24231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 design · knows “why”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moves · high leverage · explainable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63640" y="1783080"/>
            <a:ext cx="5394960" cy="1783080"/>
          </a:xfrm>
          <a:prstGeom prst="rect">
            <a:avLst/>
          </a:prstGeom>
          <a:solidFill>
            <a:srgbClr val="FBF1E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783080"/>
            <a:ext cx="109728" cy="17830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6537960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 = the prospector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537960" y="24231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Intentionless mutation + selection · knows only “what”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· low leverage · by sheer numbers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3977640"/>
            <a:ext cx="3291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31520" y="4160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Design the space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731520" y="46177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evolvable scope + guardrails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858768" y="42519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4434840" y="3977640"/>
            <a:ext cx="3291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617720" y="4160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Explore at scale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4617720" y="46177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iter22 · 8 crashes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744968" y="42519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800" dirty="0"/>
          </a:p>
        </p:txBody>
      </p:sp>
      <p:sp>
        <p:nvSpPr>
          <p:cNvPr id="22" name="Shape 19"/>
          <p:cNvSpPr/>
          <p:nvPr/>
        </p:nvSpPr>
        <p:spPr>
          <a:xfrm>
            <a:off x="8321040" y="3977640"/>
            <a:ext cx="3291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503920" y="41605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Analyze &amp; adjust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8503920" y="46177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→ fix the frame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553212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Next round: use the findings to adjust the search space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48640" y="594360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who’s stronger — different species, each filling a gap: Claude designs precisely but can’t blind-search; OpenEvolve blind-searches but doesn’t grasp what it found.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builds the frame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src/tools/tool_loader.py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(77 AST / 120 sandbox) · OpenEvolve explores in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evolvable_tools.py:18-58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EVOLVE-BLOCK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ARCHITECTURE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layer’s “autonomy vs guardrail”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52578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Layer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Autonomy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Guardrail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 (Human)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decisions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own judgment, domain knowledge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A5BA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Claude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+ analyze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review, git PR flow, honest reporting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8A33D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OpenEvolve LLM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mutate + invent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Taxonomy (clamp / sandbox)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440680"/>
            <a:ext cx="1110996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68680" y="5440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Maxim: the more I let it act autonomously, the stronger the guardrail I build first — “worst case is degradation, not a crash”.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Guardrails: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retrieval_executor.py:53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normalize_policy (clamp)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tool_loader.py:77-177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(AST→sandbox→wrap)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ARCHITECTURE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collaboration loop: every PR, every experiment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946904" y="1851660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946904" y="1851660"/>
            <a:ext cx="91440" cy="77724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8" name="Text 5"/>
          <p:cNvSpPr/>
          <p:nvPr/>
        </p:nvSpPr>
        <p:spPr>
          <a:xfrm>
            <a:off x="5111496" y="18516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intent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382006" y="2925779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382006" y="2925779"/>
            <a:ext cx="91440" cy="77724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1" name="Text 8"/>
          <p:cNvSpPr/>
          <p:nvPr/>
        </p:nvSpPr>
        <p:spPr>
          <a:xfrm>
            <a:off x="8546598" y="2925779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builds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069914" y="4663741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069914" y="4663741"/>
            <a:ext cx="91440" cy="77724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4" name="Text 11"/>
          <p:cNvSpPr/>
          <p:nvPr/>
        </p:nvSpPr>
        <p:spPr>
          <a:xfrm>
            <a:off x="7234506" y="4663741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823894" y="4663741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823894" y="4663741"/>
            <a:ext cx="91440" cy="77724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7" name="Text 14"/>
          <p:cNvSpPr/>
          <p:nvPr/>
        </p:nvSpPr>
        <p:spPr>
          <a:xfrm>
            <a:off x="2988486" y="4663741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honestly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511802" y="2925779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511802" y="2925779"/>
            <a:ext cx="91440" cy="77724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20" name="Text 17"/>
          <p:cNvSpPr/>
          <p:nvPr/>
        </p:nvSpPr>
        <p:spPr>
          <a:xfrm>
            <a:off x="1676394" y="2925779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decide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541264" y="3200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↻</a:t>
            </a:r>
            <a:endParaRPr lang="en-US" sz="5000" dirty="0"/>
          </a:p>
        </p:txBody>
      </p:sp>
      <p:sp>
        <p:nvSpPr>
          <p:cNvPr id="22" name="Text 19"/>
          <p:cNvSpPr/>
          <p:nvPr/>
        </p:nvSpPr>
        <p:spPr>
          <a:xfrm>
            <a:off x="5175504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(next intent)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in CLAUDE.md “Git workflow” (main only takes PRs) · landed PRs in docs/evolution_design_notes.md §11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ARCHITECTURE IS WORTH LEARNING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68680" y="21031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increasingly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“uses other AIs / tools”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4297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is no longer single-layer. I want this project to show: how to safely delegate autonomy, layer by layer.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Overall goal in docs/evolution_design_notes.md §1 (background &amp; goals)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ROLES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role: the steering wheel and the brake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109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783080"/>
            <a:ext cx="109728" cy="786384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83080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direction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114800" y="1783080"/>
            <a:ext cx="7406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“optimize every facet of the agent crew”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11109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697480"/>
            <a:ext cx="109728" cy="786384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2697480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irreversible calls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114800" y="2697480"/>
            <a:ext cx="7406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to merge, which experiment to run, whether to change the system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611880"/>
            <a:ext cx="11109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" y="3611880"/>
            <a:ext cx="109728" cy="786384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3611880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&amp; challenge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114800" y="3611880"/>
            <a:ext cx="7406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design deeper with questions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526280"/>
            <a:ext cx="11109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48640" y="4526280"/>
            <a:ext cx="109728" cy="786384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4526280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Gatekeep the process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114800" y="4526280"/>
            <a:ext cx="7406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insist on the git PR flow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48640" y="553212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I insist “main only takes PRs” — once Claude forgot to branch, and I corrected it on the spot.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written in CLAUDE.md “Git workflow: main only takes PR merges, no direct commits”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ROLES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Claude’s role: implementation and judgment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892808"/>
            <a:ext cx="146304" cy="146304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783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my intent into code + tests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40080" y="2642616"/>
            <a:ext cx="146304" cy="146304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53288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source to “verify” — don’t trust the docs blindly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40080" y="3392424"/>
            <a:ext cx="146304" cy="146304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28269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experiments, analyze data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40080" y="4142232"/>
            <a:ext cx="146304" cy="146304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03250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honestly — proactively surface bugs and limits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640080" y="4892040"/>
            <a:ext cx="146304" cy="146304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478231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docs / PRs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548640" y="5577840"/>
            <a:ext cx="1110996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68680" y="55778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Claude read OpenEvolve’s source and found that “exactly one EVOLVE-BLOCK” is a recommendation, not a hard limit.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Read-the-source finding in docs/evolution_design_notes.md §9 (EVOLVE-BLOCK truth: parse_evolve_blocks is never called)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ROLES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OpenEvolve’s role: the autonomous explorer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safe frame Claude built, it </a:t>
            </a:r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mutates autonomously</a:t>
            </a:r>
            <a:pPr indent="0" marL="0">
              <a:buNone/>
            </a:pPr>
            <a:r>
              <a:rPr lang="en-US" sz="18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evolving the agent prompt, inventing tools, exploring paths.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11109960" cy="2194560"/>
          </a:xfrm>
          <a:prstGeom prst="rect">
            <a:avLst/>
          </a:prstGeom>
          <a:solidFill>
            <a:srgbClr val="FBF1E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2743200"/>
            <a:ext cx="109728" cy="21945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9260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example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8680" y="34290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evolved a rating formula that splits on user_std into 4 segments — nobody taught it; neither I nor Claude ever wrote it.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“find”, but it doesn’t know what it found — exactly the line between prospector and architect.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Evolution space: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config/agents_evolving.yaml:1-44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EVOLVE-BLOCK (prompt) +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evolvable_tools.py:18-58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(tools)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ROLES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complements — none is optional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11109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920240"/>
            <a:ext cx="109728" cy="109728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9202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me (Human)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663440" y="19202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 / energy to do all the implementation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48640" y="3200400"/>
            <a:ext cx="11109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3200400"/>
            <a:ext cx="109728" cy="109728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32004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Claude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663440" y="32004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direction or final judgment; makes irreversible mistakes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548640" y="4480560"/>
            <a:ext cx="11109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" y="4480560"/>
            <a:ext cx="109728" cy="1097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44805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OpenEvolve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663440" y="44805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itself (the earlier run failed 36% of the time)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fills a gap — remove my layer, and there’s no direction.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“earlier run 36% crash → full architecture 0” comparison in docs/evolution_design_notes.md §12.7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PATTERNS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1: questions that deepen the design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394960" cy="4114800"/>
          </a:xfrm>
          <a:prstGeom prst="rect">
            <a:avLst/>
          </a:prstGeom>
          <a:solidFill>
            <a:srgbClr val="EAF0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good question I asked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“How can an agent safely evolve, use different tools, even create new tools — without crashing on tool calling?”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5029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“fix my bug”, but a design question that pushes deeper.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1783080"/>
            <a:ext cx="54406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9224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answer it forced: a failure taxonomy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92240" y="25146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23272E"/>
                </a:solidFill>
              </a:rPr>
              <a:t>Instead of try/except, Claude layered it first: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50" b="1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 protocol · L2 params · L3 strategy · L4 digestion · L5 contract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23272E"/>
                </a:solidFill>
              </a:rPr>
              <a:t>→ constitution: graceful degradation, not crash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23272E"/>
                </a:solidFill>
              </a:rPr>
              <a:t>→ landed: L0 observe + L1 clamp + L2 sandbox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92240" y="5212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  </a:t>
            </a:r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tool-crash rate 36% → 0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8640" y="603504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question beats a good answer — by asking deeper, I turned a quick patch into a transferable layered framework.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5-layer taxonomy docs/evolution_design_notes.md §3 ｜ landed in src/tools/{interaction_tool_wrapper,retrieval_executor,tool_loader}.py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PATTERNS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2: honest reporting, catching the bug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5440680" cy="3108960"/>
          </a:xfrm>
          <a:prstGeom prst="rect">
            <a:avLst/>
          </a:prstGeom>
          <a:solidFill>
            <a:srgbClr val="F7E9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4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Looked perfect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1600" b="1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combined_score</a:t>
            </a:r>
            <a:endParaRPr lang="en-US" sz="16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C045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0.8452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Pretty score — nobody would suspect it.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0" y="1920240"/>
            <a:ext cx="5440680" cy="3108960"/>
          </a:xfrm>
          <a:prstGeom prst="rect">
            <a:avLst/>
          </a:prstGeom>
          <a:solidFill>
            <a:srgbClr val="E7F2E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9224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verified proactively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92240" y="265176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3272E"/>
                </a:solidFill>
              </a:rPr>
              <a:t>Checked </a:t>
            </a:r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agent.tools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3272E"/>
                </a:solidFill>
              </a:rPr>
              <a:t> directly → found </a:t>
            </a:r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C045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3272E"/>
                </a:solidFill>
              </a:rPr>
              <a:t>The tools never attached! Surfaced it + added regression tests.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5120640"/>
            <a:ext cx="1110996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68680" y="512064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 A healthy score ≠ correct behavior ”   AI’s honesty is the bedrock of collaboration.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Cause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simulation_crew.py:21-30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graceful [] hides it · fix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tool_loader.py:164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regression tests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tests/test_tool_loader.py:185-203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PATTERNS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3: I gatekeep irreversible actions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asks me first, then acts — it never runs irreversible actions on its own.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65176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2651760"/>
            <a:ext cx="91440" cy="868680"/>
          </a:xfrm>
          <a:prstGeom prst="rect">
            <a:avLst/>
          </a:prstGeom>
          <a:solidFill>
            <a:srgbClr val="C0453B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65176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PR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43400" y="265176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2651760"/>
            <a:ext cx="91440" cy="868680"/>
          </a:xfrm>
          <a:prstGeom prst="rect">
            <a:avLst/>
          </a:prstGeom>
          <a:solidFill>
            <a:srgbClr val="C0453B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0" y="265176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4-hour experiment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138160" y="265176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138160" y="2651760"/>
            <a:ext cx="91440" cy="868680"/>
          </a:xfrm>
          <a:prstGeom prst="rect">
            <a:avLst/>
          </a:prstGeom>
          <a:solidFill>
            <a:srgbClr val="C0453B"/>
          </a:solidFill>
          <a:ln/>
        </p:spPr>
      </p:sp>
      <p:sp>
        <p:nvSpPr>
          <p:cNvPr id="15" name="Text 12"/>
          <p:cNvSpPr/>
          <p:nvPr/>
        </p:nvSpPr>
        <p:spPr>
          <a:xfrm>
            <a:off x="8366760" y="265176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374904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3749040"/>
            <a:ext cx="91440" cy="868680"/>
          </a:xfrm>
          <a:prstGeom prst="rect">
            <a:avLst/>
          </a:prstGeom>
          <a:solidFill>
            <a:srgbClr val="C0453B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37490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system settings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343400" y="374904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343400" y="3749040"/>
            <a:ext cx="91440" cy="868680"/>
          </a:xfrm>
          <a:prstGeom prst="rect">
            <a:avLst/>
          </a:prstGeom>
          <a:solidFill>
            <a:srgbClr val="C0453B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0" y="37490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 new GitHub repo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8138160" y="374904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138160" y="3749040"/>
            <a:ext cx="91440" cy="868680"/>
          </a:xfrm>
          <a:prstGeom prst="rect">
            <a:avLst/>
          </a:prstGeom>
          <a:solidFill>
            <a:srgbClr val="C0453B"/>
          </a:solidFill>
          <a:ln/>
        </p:spPr>
      </p:sp>
      <p:sp>
        <p:nvSpPr>
          <p:cNvPr id="24" name="Text 21"/>
          <p:cNvSpPr/>
          <p:nvPr/>
        </p:nvSpPr>
        <p:spPr>
          <a:xfrm>
            <a:off x="8366760" y="37490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 LibreOffice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48640" y="521208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before creating a repo or installing LibreOffice, Claude asked me first. Gatekeeping the irreversible is my layer’s core job.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 in CLAUDE.md “Git workflow” (main only takes PR merges, no direct commits)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PATTERNS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4: complementary human-AI knowledge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5440680" cy="3200400"/>
          </a:xfrm>
          <a:prstGeom prst="rect">
            <a:avLst/>
          </a:prstGeom>
          <a:solidFill>
            <a:srgbClr val="E7F2E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fill Claude’s blind spot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4983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didn’t know “closing my Mac’s lid kills background processes” — that’s physical / environmental knowledge.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217920" y="2011680"/>
            <a:ext cx="5440680" cy="3200400"/>
          </a:xfrm>
          <a:prstGeom prst="rect">
            <a:avLst/>
          </a:prstGeom>
          <a:solidFill>
            <a:srgbClr val="EAF0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9224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fills mine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2743200"/>
            <a:ext cx="4983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 mentioned it, Claude explained caffeinate and set it up (prevent system sleep but let the screen rest) — that’s tooling detail.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48640" y="548640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“environmental knowledge” × Claude’s “tooling detail” — complementary; without either, the run won’t finish.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the full 50-iter run finished: docs/evolution_design_notes.md §12.7(b) (nohup detach harness + caffeinate -i -s)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PATTERNS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5: layered delegation of autonomy (the core)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had Claude build a safe frame (L0/L1/L2 Failure Taxonomy) for OpenEvolve — only with the frame in place did I dare let go.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651760"/>
            <a:ext cx="5440680" cy="2651760"/>
          </a:xfrm>
          <a:prstGeom prst="rect">
            <a:avLst/>
          </a:prstGeom>
          <a:solidFill>
            <a:srgbClr val="F7E9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2880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4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frame (earlier run)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38328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5200" b="1" dirty="0">
                <a:solidFill>
                  <a:srgbClr val="C04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36%</a:t>
            </a:r>
            <a:endParaRPr lang="en-US" sz="5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5200" dirty="0">
                <a:solidFill>
                  <a:srgbClr val="23272E"/>
                </a:solidFill>
              </a:rPr>
              <a:t>of iterations crash</a:t>
            </a:r>
            <a:endParaRPr lang="en-US" sz="5200" dirty="0"/>
          </a:p>
        </p:txBody>
      </p:sp>
      <p:sp>
        <p:nvSpPr>
          <p:cNvPr id="10" name="Shape 7"/>
          <p:cNvSpPr/>
          <p:nvPr/>
        </p:nvSpPr>
        <p:spPr>
          <a:xfrm>
            <a:off x="6217920" y="2651760"/>
            <a:ext cx="5440680" cy="2651760"/>
          </a:xfrm>
          <a:prstGeom prst="rect">
            <a:avLst/>
          </a:prstGeom>
          <a:solidFill>
            <a:srgbClr val="E7F2E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9224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architecture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92240" y="338328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52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5200" dirty="0">
                <a:solidFill>
                  <a:srgbClr val="23272E"/>
                </a:solidFill>
              </a:rPr>
              <a:t>tool-calling crashes</a:t>
            </a:r>
            <a:endParaRPr lang="en-US" sz="5200" dirty="0"/>
          </a:p>
        </p:txBody>
      </p:sp>
      <p:sp>
        <p:nvSpPr>
          <p:cNvPr id="13" name="Text 10"/>
          <p:cNvSpPr/>
          <p:nvPr/>
        </p:nvSpPr>
        <p:spPr>
          <a:xfrm>
            <a:off x="548640" y="557784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precondition for delegating autonomy: first build a “worst case is only degradation” guardrail.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guardrails: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interaction_tool_wrapper.py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(L0)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retrieval_executor.py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(L1)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tool_loader.py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(L2) ｜ data §12.7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PATTERNS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patterns · one-page recap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1109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8928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17320" y="1737360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deepen design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0" y="1737360"/>
            <a:ext cx="6035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open question → the failure taxonomy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2633472"/>
            <a:ext cx="11109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2788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417320" y="2633472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reporting catches bugs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486400" y="2633472"/>
            <a:ext cx="6035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agent.tools == [] surfaced proactively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48640" y="3529584"/>
            <a:ext cx="11109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77240" y="36850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417320" y="3529584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gatekeep irreversibles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486400" y="3529584"/>
            <a:ext cx="6035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/ brew / new repo — ask before acting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48640" y="4425696"/>
            <a:ext cx="11109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77240" y="45811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4581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417320" y="4425696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Complementary knowledge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486400" y="4425696"/>
            <a:ext cx="6035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environment sense × Claude’s tooling detail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48640" y="5321808"/>
            <a:ext cx="111099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77240" y="54772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5"/>
          <p:cNvSpPr/>
          <p:nvPr/>
        </p:nvSpPr>
        <p:spPr>
          <a:xfrm>
            <a:off x="777240" y="5477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417320" y="5321808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Layered delegation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5486400" y="5321808"/>
            <a:ext cx="6035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guardrails first, then let it evolve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548640" y="61996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Which pattern could you use in your own project tomorrow?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five-pattern version in docs/collaboration_workflow_outline.md (Part 3)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CLIMAX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layers collaborate to produce one evolved artifact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3520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920240"/>
            <a:ext cx="3520440" cy="109728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194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(Human)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269748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to run 50 iters on the full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architecture; set caffeinate to run overnight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0832" y="1920240"/>
            <a:ext cx="3520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0832" y="1920240"/>
            <a:ext cx="3520440" cy="109728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2" name="Text 9"/>
          <p:cNvSpPr/>
          <p:nvPr/>
        </p:nvSpPr>
        <p:spPr>
          <a:xfrm>
            <a:off x="4599432" y="2194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99432" y="269748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L0/L1/L2 frame, launched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evolution, detached harness, analyzed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193024" y="1920240"/>
            <a:ext cx="35204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193024" y="1920240"/>
            <a:ext cx="3520440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6" name="Text 13"/>
          <p:cNvSpPr/>
          <p:nvPr/>
        </p:nvSpPr>
        <p:spPr>
          <a:xfrm>
            <a:off x="8421624" y="2194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421624" y="269748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autonomously evolved iter22’s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“segmented rating formula” (0.842)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4572000"/>
            <a:ext cx="11109960" cy="1737360"/>
          </a:xfrm>
          <a:prstGeom prst="rect">
            <a:avLst/>
          </a:prstGeom>
          <a:solidFill>
            <a:srgbClr val="1118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2296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iter22 formula (excerpt)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22960" y="51206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user_std &lt; 0.7:  predicted = user_mean + 0.55·(item_mean − user_mean)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&lt; 1.0: +0.45·…   elif &lt; 1.3: +0.30·…   else: user_median + 0.20·…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clamp [1,5] · round 0.5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Evolution target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config/agents_evolving.yaml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EVOLVE-BLOCK · iter22 data docs/evolution_design_notes.md §12.7(b)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463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ITER22 IS AN EMERGENT PRODUCT OF THREE-LAYER COLLABORATION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914400" y="219456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2E9E6B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21945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931920" y="21945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wouldn’t hand-write that formula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914400" y="33832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3A5BA0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3832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931920" y="3383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wouldn’t think of that formula itself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914400" y="45720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5720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931920" y="45720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the frame, breaks itself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914400" y="5852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single layer could have done it alone.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Three-layer data docs/evolution_design_notes.md §12.7 (baseline 0.72 → best 0.842, crash rate 16%)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CLIMAX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deeper part: what happened “after” iter22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had Claude trace every descendant of iter22 (de559de9) — conclusion: no better offspring appeared after it.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11109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2377440"/>
            <a:ext cx="109728" cy="8412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377440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5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Over-engineering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206240" y="2377440"/>
            <a:ext cx="7315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4-segment formula → 5, 6 segments, more parameters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3337560"/>
            <a:ext cx="11109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" y="3337560"/>
            <a:ext cx="109728" cy="8412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337560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5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Sub-metrics trade off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206240" y="3337560"/>
            <a:ext cx="7315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wobbles, review_generation regresses → score stalls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4297680"/>
            <a:ext cx="111099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4297680"/>
            <a:ext cx="109728" cy="8412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4297680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5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Islands converge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4206240" y="4297680"/>
            <a:ext cx="7315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spreads iter22’s genes across 3 islands → diversity collapses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5349240"/>
            <a:ext cx="11109960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68680" y="534924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Claude’s diagnosis for me: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iter22 is a local optimum. OpenEvolve can “find” it, but “why it’s stuck here and how to escape” is structurally beyond a prospector — it has no concept of “local optimum”.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Island/migration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config/openevolve_config.yaml:71-78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(num_islands:3, migration_interval/rate) · data §12.7(b)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CLIMAX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 “failure” is a shared insight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low-score crashes → I had Claude comb the data for causes: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5440680" cy="2194560"/>
          </a:xfrm>
          <a:prstGeom prst="rect">
            <a:avLst/>
          </a:prstGeom>
          <a:solidFill>
            <a:srgbClr val="F7E9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30175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4400" b="1" dirty="0">
                <a:solidFill>
                  <a:srgbClr val="C04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5×</a:t>
            </a:r>
            <a:endParaRPr lang="en-US" sz="4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4400" dirty="0">
                <a:solidFill>
                  <a:srgbClr val="23272E"/>
                </a:solidFill>
              </a:rPr>
              <a:t>broken YAML syntax</a:t>
            </a:r>
            <a:pPr indent="0" marL="0">
              <a:lnSpc>
                <a:spcPts val="3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(full-rewrite risk, bypasses clamp)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6217920" y="2743200"/>
            <a:ext cx="5440680" cy="2194560"/>
          </a:xfrm>
          <a:prstGeom prst="rect">
            <a:avLst/>
          </a:prstGeom>
          <a:solidFill>
            <a:srgbClr val="FBF1E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92240" y="30175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4400" b="1" dirty="0">
                <a:solidFill>
                  <a:srgbClr val="B5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4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4400" dirty="0">
                <a:solidFill>
                  <a:srgbClr val="23272E"/>
                </a:solidFill>
              </a:rPr>
              <a:t>rate limit 429</a:t>
            </a:r>
            <a:pPr indent="0" marL="0">
              <a:lnSpc>
                <a:spcPts val="3000"/>
              </a:lnSpc>
              <a:buNone/>
            </a:pPr>
            <a:r>
              <a:rPr lang="en-US" sz="1200" dirty="0">
                <a:solidFill>
                  <a:srgbClr val="6B7280"/>
                </a:solidFill>
              </a:rPr>
              <a:t>(NVIDIA NIM throttling)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548640" y="53949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Collaboration produces not only successes but shared understanding of failure — both read together across all three layers.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8/50 low-score causes docs/evolution_design_notes.md §12.7(b) · diff_based_evolution:false (full-rewrite) see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openevolve_config.yaml:18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REFLECTION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should do what?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2011680"/>
            <a:ext cx="3520440" cy="128016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22860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(Human) do it myself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30632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· value judgments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 decisions · domain/physical knowledge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70832" y="201168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0832" y="2011680"/>
            <a:ext cx="3520440" cy="128016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0" y="22860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Delegate to Claude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572000" y="30632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· verify · analyze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· honest reporting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193024" y="2011680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193024" y="2011680"/>
            <a:ext cx="3520440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6" name="Text 13"/>
          <p:cNvSpPr/>
          <p:nvPr/>
        </p:nvSpPr>
        <p:spPr>
          <a:xfrm>
            <a:off x="8394192" y="22860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 to evolution (OpenEvolve)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394192" y="30632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exploration &amp; invention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safe frame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split the work by three criteria: reversibility · whether value judgment is needed · size of the search space.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Mapping: Me→config/*.yaml ｜ Claude→src/ + tests/ ｜ evolution→EVOLVE-BLOCK (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agents_evolving.yaml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evolvable_tools.py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REFLECTION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11109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02996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63040" y="1828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collaboration is going multi-layer — “delegating autonomy” is a new skill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11109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03580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63040" y="28346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deeper the layer, the stronger the guardrail (worst case is degradation, not a crash)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548640" y="3840480"/>
            <a:ext cx="11109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22960" y="404164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463040" y="38404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reporting + human gatekeeping of irreversibles = the safety bedrock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48640" y="4846320"/>
            <a:ext cx="11109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22960" y="504748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5047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463040" y="48463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questions drive good design; even failures can be understood together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Back to the opening: is your AI a tool, or a partner?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 docs/evolution_design_notes.md §3 (taxonomy) · §4 (protocol/policy) · §12.7 (data)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1"/>
          <p:cNvSpPr/>
          <p:nvPr/>
        </p:nvSpPr>
        <p:spPr>
          <a:xfrm>
            <a:off x="868680" y="1737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· Q &amp; A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914400" y="29260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19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real product of this project isn’t just a 0.842 agent —</a:t>
            </a:r>
            <a:endParaRPr lang="en-US" sz="19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9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it’s the “human + AI + evolution” safe-collaboration workflow I take home.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914400" y="457200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2E9E6B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572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33756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0" y="457200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3A5BA0"/>
          </a:solidFill>
          <a:ln/>
        </p:spPr>
      </p:sp>
      <p:sp>
        <p:nvSpPr>
          <p:cNvPr id="10" name="Text 7"/>
          <p:cNvSpPr/>
          <p:nvPr/>
        </p:nvSpPr>
        <p:spPr>
          <a:xfrm>
            <a:off x="4114800" y="4572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3796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0" y="457200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E8A33D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0" y="4572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14400" y="5760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docs/collaboration_workflow_outline.md · docs/evolution_design_notes.md · docs/teaching_slides_outline.md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outlines docs/collaboration_workflow_outline.md · docs/teaching_slides_outline.md ｜ technical docs/evolution_design_notes.md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Three-Layer AI Collaboration Workflow</dc:title>
  <dc:subject>PptxGenJS Presentation</dc:subject>
  <dc:creator>AgentSocietyChallenge_OpenEvolve</dc:creator>
  <cp:lastModifiedBy>AgentSocietyChallenge_OpenEvolve</cp:lastModifiedBy>
  <cp:revision>1</cp:revision>
  <dcterms:created xsi:type="dcterms:W3CDTF">2026-06-16T01:04:02Z</dcterms:created>
  <dcterms:modified xsi:type="dcterms:W3CDTF">2026-06-16T01:04:02Z</dcterms:modified>
</cp:coreProperties>
</file>