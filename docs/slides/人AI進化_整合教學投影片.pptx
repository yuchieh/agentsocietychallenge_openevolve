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combined_score</c:v>
                </c:pt>
              </c:strCache>
            </c:strRef>
          </c:tx>
          <c:spPr>
            <a:solidFill>
              <a:srgbClr val="3A5BA0"/>
            </a:solidFill>
            <a:ln w="38100" cap="flat">
              <a:solidFill>
                <a:srgbClr val="3A5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it0</c:v>
                  </c:pt>
                  <c:pt idx="1">
                    <c:v>it1</c:v>
                  </c:pt>
                  <c:pt idx="2">
                    <c:v>it2</c:v>
                  </c:pt>
                  <c:pt idx="3">
                    <c:v>it3</c:v>
                  </c:pt>
                  <c:pt idx="4">
                    <c:v>it4</c:v>
                  </c:pt>
                  <c:pt idx="5">
                    <c:v>it5</c:v>
                  </c:pt>
                  <c:pt idx="6">
                    <c:v>it6</c:v>
                  </c:pt>
                  <c:pt idx="7">
                    <c:v>it7</c:v>
                  </c:pt>
                  <c:pt idx="8">
                    <c:v>it8</c:v>
                  </c:pt>
                  <c:pt idx="9">
                    <c:v>it9</c:v>
                  </c:pt>
                  <c:pt idx="10">
                    <c:v>it10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</c:v>
                </c:pt>
                <c:pt idx="1">
                  <c:v>0.28</c:v>
                </c:pt>
                <c:pt idx="2">
                  <c:v>0.65</c:v>
                </c:pt>
                <c:pt idx="3">
                  <c:v>0.55</c:v>
                </c:pt>
                <c:pt idx="4">
                  <c:v>0.6</c:v>
                </c:pt>
                <c:pt idx="5">
                  <c:v>0.35</c:v>
                </c:pt>
                <c:pt idx="6">
                  <c:v>0.71</c:v>
                </c:pt>
                <c:pt idx="7">
                  <c:v>0.35</c:v>
                </c:pt>
                <c:pt idx="8">
                  <c:v>0.35</c:v>
                </c:pt>
                <c:pt idx="9">
                  <c:v>0.79</c:v>
                </c:pt>
                <c:pt idx="10">
                  <c:v>0.35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elites</c:v>
                </c:pt>
              </c:strCache>
            </c:strRef>
          </c:tx>
          <c:spPr>
            <a:solidFill>
              <a:srgbClr val="E8A33D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</c:v>
                </c:pt>
                <c:pt idx="1">
                  <c:v>0.8</c:v>
                </c:pt>
                <c:pt idx="2">
                  <c:v>0.5</c:v>
                </c:pt>
                <c:pt idx="3">
                  <c:v>0.9</c:v>
                </c:pt>
                <c:pt idx="4">
                  <c:v>0.4</c:v>
                </c:pt>
                <c:pt idx="5">
                  <c:v>0.7</c:v>
                </c:pt>
                <c:pt idx="6">
                  <c:v>0.6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0.85</c:v>
                </c:pt>
                <c:pt idx="1">
                  <c:v>0.35</c:v>
                </c:pt>
                <c:pt idx="2">
                  <c:v>0.6</c:v>
                </c:pt>
                <c:pt idx="3">
                  <c:v>0.7</c:v>
                </c:pt>
                <c:pt idx="4">
                  <c:v>0.5</c:v>
                </c:pt>
                <c:pt idx="5">
                  <c:v>0.8</c:v>
                </c:pt>
                <c:pt idx="6">
                  <c:v>0.55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preference_estimation →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review_generation →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" TargetMode="External"/><Relationship Id="rId2" Type="http://schemas.openxmlformats.org/officeDocument/2006/relationships/hyperlink" Target="https://github.com/yuchieh/AgentSocietyChallenge_OpenEvolve/blob/facfd59aceddfe0ce7f7499f93af16566d8002c2/config/openevolve_config.yaml" TargetMode="External"/><Relationship Id="rId3" Type="http://schemas.openxmlformats.org/officeDocument/2006/relationships/hyperlink" Target="https://github.com/yuchieh/AgentSocietyChallenge_OpenEvolve/blob/facfd59aceddfe0ce7f7499f93af16566d8002c2/config/agents_evolving.ya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.yaml" TargetMode="External"/><Relationship Id="rId2" Type="http://schemas.openxmlformats.org/officeDocument/2006/relationships/hyperlink" Target="https://github.com/yuchieh/AgentSocietyChallenge_OpenEvolve/blob/facfd59aceddfe0ce7f7499f93af16566d8002c2/config/agents_evolving.yaml" TargetMode="External"/><Relationship Id="rId3" Type="http://schemas.openxmlformats.org/officeDocument/2006/relationships/hyperlink" Target="https://github.com/yuchieh/AgentSocietyChallenge_OpenEvolve/blob/facfd59aceddfe0ce7f7499f93af16566d8002c2/evolvable_tools.py#L18-L5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" TargetMode="External"/><Relationship Id="rId2" Type="http://schemas.openxmlformats.org/officeDocument/2006/relationships/hyperlink" Target="https://github.com/yuchieh/AgentSocietyChallenge_OpenEvolve/blob/facfd59aceddfe0ce7f7499f93af16566d8002c2/evolvable_tools.py#L18-L5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2" Type="http://schemas.openxmlformats.org/officeDocument/2006/relationships/hyperlink" Target="https://github.com/yuchieh/AgentSocietyChallenge_OpenEvolve/blob/facfd59aceddfe0ce7f7499f93af16566d8002c2/src/tools/tool_loader.py#L77-L17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96" TargetMode="External"/><Relationship Id="rId2" Type="http://schemas.openxmlformats.org/officeDocument/2006/relationships/hyperlink" Target="https://github.com/yuchieh/AgentSocietyChallenge_OpenEvolve/blob/facfd59aceddfe0ce7f7499f93af16566d8002c2/openevolve_evaluator.py#L106-L108" TargetMode="External"/><Relationship Id="rId3" Type="http://schemas.openxmlformats.org/officeDocument/2006/relationships/hyperlink" Target="https://github.com/yuchieh/AgentSocietyChallenge_OpenEvolve/blob/facfd59aceddfe0ce7f7499f93af16566d8002c2/src/crews/simulation_crew.py#L42-L89" TargetMode="External"/><Relationship Id="rId4" Type="http://schemas.openxmlformats.org/officeDocument/2006/relationships/hyperlink" Target="https://github.com/yuchieh/AgentSocietyChallenge_OpenEvolve/blob/facfd59aceddfe0ce7f7499f93af16566d8002c2/config/openevolve_config.yaml#L10-L88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openevolve_evaluator.py#L133-L137" TargetMode="External"/><Relationship Id="rId3" Type="http://schemas.openxmlformats.org/officeDocument/2006/relationships/hyperlink" Target="https://github.com/yuchieh/AgentSocietyChallenge_OpenEvolve/blob/facfd59aceddfe0ce7f7499f93af16566d8002c2/openevolve_evaluator.py#L179-L184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8-L30" TargetMode="External"/><Relationship Id="rId2" Type="http://schemas.openxmlformats.org/officeDocument/2006/relationships/hyperlink" Target="https://github.com/yuchieh/AgentSocietyChallenge_OpenEvolve/blob/facfd59aceddfe0ce7f7499f93af16566d8002c2/config/agents_evolving.yaml#L11-L1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#L21" TargetMode="External"/><Relationship Id="rId2" Type="http://schemas.openxmlformats.org/officeDocument/2006/relationships/hyperlink" Target="https://github.com/yuchieh/AgentSocietyChallenge_OpenEvolve/blob/facfd59aceddfe0ce7f7499f93af16566d8002c2/src/tools/interaction_tool_wrapper.py#L26" TargetMode="External"/><Relationship Id="rId3" Type="http://schemas.openxmlformats.org/officeDocument/2006/relationships/hyperlink" Target="https://github.com/yuchieh/AgentSocietyChallenge_OpenEvolve/blob/facfd59aceddfe0ce7f7499f93af16566d8002c2/openevolve_evaluator.py#L3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44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3" Type="http://schemas.openxmlformats.org/officeDocument/2006/relationships/hyperlink" Target="https://github.com/yuchieh/AgentSocietyChallenge_OpenEvolve/blob/facfd59aceddfe0ce7f7499f93af16566d8002c2/src/tools/retrieval_executor.py#L29" TargetMode="External"/><Relationship Id="rId4" Type="http://schemas.openxmlformats.org/officeDocument/2006/relationships/hyperlink" Target="https://github.com/yuchieh/AgentSocietyChallenge_OpenEvolve/blob/facfd59aceddfe0ce7f7499f93af16566d8002c2/src/tools/retrieval_executor.py#L14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flows/serving_flow.py#L85-L93" TargetMode="External"/><Relationship Id="rId2" Type="http://schemas.openxmlformats.org/officeDocument/2006/relationships/hyperlink" Target="https://github.com/yuchieh/AgentSocietyChallenge_OpenEvolve/blob/facfd59aceddfe0ce7f7499f93af16566d8002c2/src/crews/simulation_crew.py#L42-L5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77" TargetMode="External"/><Relationship Id="rId2" Type="http://schemas.openxmlformats.org/officeDocument/2006/relationships/hyperlink" Target="https://github.com/yuchieh/AgentSocietyChallenge_OpenEvolve/blob/facfd59aceddfe0ce7f7499f93af16566d8002c2/src/tools/tool_loader.py#L106" TargetMode="External"/><Relationship Id="rId3" Type="http://schemas.openxmlformats.org/officeDocument/2006/relationships/hyperlink" Target="https://github.com/yuchieh/AgentSocietyChallenge_OpenEvolve/blob/facfd59aceddfe0ce7f7499f93af16566d8002c2/src/tools/tool_loader.py#L120" TargetMode="External"/><Relationship Id="rId4" Type="http://schemas.openxmlformats.org/officeDocument/2006/relationships/hyperlink" Target="https://github.com/yuchieh/AgentSocietyChallenge_OpenEvolve/blob/facfd59aceddfe0ce7f7499f93af16566d8002c2/src/tools/tool_loader.py#L156" TargetMode="External"/><Relationship Id="rId5" Type="http://schemas.openxmlformats.org/officeDocument/2006/relationships/hyperlink" Target="https://github.com/yuchieh/AgentSocietyChallenge_OpenEvolve/blob/facfd59aceddfe0ce7f7499f93af16566d8002c2/src/tools/tool_loader.py#L60" TargetMode="External"/><Relationship Id="rId6" Type="http://schemas.openxmlformats.org/officeDocument/2006/relationships/hyperlink" Target="https://github.com/yuchieh/AgentSocietyChallenge_OpenEvolve/blob/facfd59aceddfe0ce7f7499f93af16566d8002c2/src/tools/tool_loader.py#L164" TargetMode="External"/><Relationship Id="rId7" Type="http://schemas.openxmlformats.org/officeDocument/2006/relationships/hyperlink" Target="https://github.com/yuchieh/AgentSocietyChallenge_OpenEvolve/blob/facfd59aceddfe0ce7f7499f93af16566d8002c2/src/crews/simulation_crew.py#L53-L62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83-L84" TargetMode="External"/><Relationship Id="rId2" Type="http://schemas.openxmlformats.org/officeDocument/2006/relationships/hyperlink" Target="https://github.com/yuchieh/AgentSocietyChallenge_OpenEvolve/blob/facfd59aceddfe0ce7f7499f93af16566d8002c2/scripts/validate_holdout.py#L25" TargetMode="External"/><Relationship Id="rId3" Type="http://schemas.openxmlformats.org/officeDocument/2006/relationships/hyperlink" Target="https://github.com/yuchieh/AgentSocietyChallenge_OpenEvolve/blob/facfd59aceddfe0ce7f7499f93af16566d8002c2/src/utils/create_sampled_dataset.py#L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config/openevolve_config.yaml#L85-L88" TargetMode="External"/><Relationship Id="rId3" Type="http://schemas.openxmlformats.org/officeDocument/2006/relationships/hyperlink" Target="https://github.com/yuchieh/AgentSocietyChallenge_OpenEvolve/blob/facfd59aceddfe0ce7f7499f93af16566d8002c2/openevolve_evaluator.py#L47-L59" TargetMode="External"/><Relationship Id="rId1" Type="http://schemas.openxmlformats.org/officeDocument/2006/relationships/chart" Target="/ppt/charts/chart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139-L146" TargetMode="External"/><Relationship Id="rId2" Type="http://schemas.openxmlformats.org/officeDocument/2006/relationships/hyperlink" Target="https://github.com/yuchieh/AgentSocietyChallenge_OpenEvolve/blob/facfd59aceddfe0ce7f7499f93af16566d8002c2/src/tools/tool_loader.py#L164" TargetMode="External"/><Relationship Id="rId3" Type="http://schemas.openxmlformats.org/officeDocument/2006/relationships/hyperlink" Target="https://github.com/yuchieh/AgentSocietyChallenge_OpenEvolve/blob/facfd59aceddfe0ce7f7499f93af16566d8002c2/src/crews/simulation_crew.py#L21-L30" TargetMode="External"/><Relationship Id="rId4" Type="http://schemas.openxmlformats.org/officeDocument/2006/relationships/hyperlink" Target="https://github.com/yuchieh/AgentSocietyChallenge_OpenEvolve/blob/facfd59aceddfe0ce7f7499f93af16566d8002c2/tests/test_tool_loader.py#L185-L20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" TargetMode="External"/><Relationship Id="rId2" Type="http://schemas.openxmlformats.org/officeDocument/2006/relationships/hyperlink" Target="https://github.com/yuchieh/AgentSocietyChallenge_OpenEvolve/blob/facfd59aceddfe0ce7f7499f93af16566d8002c2/src/tools/retrieval_executor.py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71-L7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1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hyperlink" Target="https://github.com/yuchieh/AgentSocietyChallenge_OpenEvolve/blob/facfd59aceddfe0ce7f7499f93af16566d8002c2/evolvable_tools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× CLAUDE CODE × OPENEVOLVE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 × AI × 進化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協作打造一個會「安全進化」的 Agent 系統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45720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45720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一份講完「系統怎麼做的」與「人 + AI 怎麼協作做出來的」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· 進入點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我們做出了什麼？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 → 0.72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確定性檢索的穩定性紅利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99432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iter22（進化到第 22 代）長出的量化公式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93024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工具崩潰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 → 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21624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從會把自己改崩，到零工具呼叫崩潰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而且這不是一個人寫出來的——是「我 + Claude + OpenEvolve」三個智能體協作的成果。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完整數據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§12.7（完整架構 50-iter 端到端）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議程與學習目標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協作架構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三個智能體 · 自主 vs 護欄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9019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問題與接縫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進化把自己改崩 → 失敗分類學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7373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19019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技術主體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/ L1 / L2 分層解法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273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可信機制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· MAP-Elites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1089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3273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協作模式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個可遷移模式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31089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15400" y="3273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高潮 iter22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三層協作的湧現產物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7548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學習目標　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三層協作架構 + 自主/護欄配置 · 看懂失敗分類學與 L0/L1/L2 · 帶走 5 個協作模式 · 判準：什麼我做/交給 AI/交給進化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主線：協作故事是外層，技術分類學是嵌入其中的實戰案例。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外層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docs/collaboration_workflow_outline.md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內層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docs/teaching_slides_outline.md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數據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evolution_design_notes.md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三個角色登場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本場講者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設方向 · 做決策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 · 把關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我的實作夥伴（AI）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· 驗證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· 誠實報告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93024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的 LLM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21624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駕馭的探索者（AI）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21624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自主突變 · 發明工具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探索進化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關鍵：後兩者都是 AI，但角色完全不同；我站在最外層指揮。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我+Claude 寫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（正式）·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（種子）｜ OpenEvolve 改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三層嵌套：委派自主性的鏈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24612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意圖 / 決策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27432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 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377440"/>
            <a:ext cx="324612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/ 判斷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27432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 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377440"/>
            <a:ext cx="324612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LLM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410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自主探索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自主程度越往右越高　|　護欄也要越往右越強 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這不是「我用工具」，是「我把自主性一層層往下委派」的三層鏈。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我→config/*.yaml ｜ Claude→src/tools/ + src/crews/ + src/flows/ ｜ OpenEvolve→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× OpenEvolve：架構師 vs 探勘者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78308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78308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Claude＝架構師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有意圖的設計 · 知道「為什麼」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少量 · 高槓桿 · 可解釋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78308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109728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OpenEvolve＝探勘者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無意圖的突變 + 篩選 · 只知「是什麼」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· 低槓桿 · 靠數量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設計搜尋空間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可進化範圍 + 護欄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587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4348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大規模探索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· 8 次崩潰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449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3210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分析與調整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 → 改框架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不是誰比較強，是不同物種、各補一塊——Claude 精準設計但不會盲搜，OpenEvolve 盲搜但不懂自己找到了什麼。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搭框架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（77 AST / 120 沙箱）· OpenEvolve 在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 內探索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自主越高、護欄越強 ＋ 安全憲法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57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層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自主做什麼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護欄是什麼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我（Human）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最終決策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自己的判斷、領域知識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5BA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實作 + 分析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我的 review、git PR flow、誠實回報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E8A3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OpenEvolve LLM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突變 + 發明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Taxonomy（clamp / sandbox）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1099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安全憲法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我越是放手讓它自主，越要先建好「最壞 = 優雅退化，絕不是災難性崩潰」的護欄。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護欄落地：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normalize_policy（clamp）·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（AST→沙箱→包裝）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問題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舞台：競賽任務 + CrewAI + OpenEvolve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1：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預測某用戶對某商家的 </a:t>
            </a:r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{stars, review}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fitness = overall_quality =（評分準度 + 文字相似度）/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/ 萃取資料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58768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70832" y="237744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psychological_analyst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分析偏好 · 評分習慣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93024" y="237744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behavior_simulator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4192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{stars, review}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三代理流水線（Process.sequential）— 前一棒輸出是後一棒 context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10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= 用 LLM 反覆「突變 → 評分 → 選擇」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資料庫 · Island 多島模型 · EVOLVE-BLOCK 標記 · combined_score 當 fitness。核心問題：如何讓系統「自己設計自己」，又不讓它把自己改壞？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evaluator.py:96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evaluate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:106-108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fitness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simulation_crew.py:42-89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三代理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openevolve_config.yaml:10-88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問題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事故現場：進化把自己改崩了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在先前一次「沒有防護」的進化實驗裡，agent prompt 的突變導致工具呼叫失效 → 整條流程崩潰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7315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2377440"/>
            <a:ext cx="352044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210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3667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保底分數（fallback）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那次約 36% 的迭代反覆掉到這地板——工具呼叫一壞，預測流程整個垮掉。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openevolve_evaluator.py:133-137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 fallback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:179-184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fallback（都回 _result(0.0)）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接縫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協作模式 ①：Claude 的「失敗分類學」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「失敗分類學」＝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與其工具一壞就頭痛醫頭，Claude 先把「工具呼叫會怎麼壞」分門別類成 5 種失敗模式，每一層各配一種防護。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4114800" cy="384048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我問的好問題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「怎麼讓 agent 安全進化、用不同工具、甚至創造新工具，而不在工具呼叫上崩潰？」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不是「幫我修 bug」，而是往深處逼的設計問題。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938528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938528"/>
            <a:ext cx="91440" cy="566928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93852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1938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呼叫協議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18120" y="193852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呼叫工具的文字格式被改壞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596896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596896"/>
            <a:ext cx="9144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59689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25968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參數正確性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18120" y="259689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參數（query_type）亂填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255264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55264"/>
            <a:ext cx="9144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25526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呼叫策略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18120" y="325526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「不查了，直接猜」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913632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913632"/>
            <a:ext cx="91440" cy="5669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9136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3913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結果消化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818120" y="391363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上千筆 review 不知怎麼取樣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4572000"/>
            <a:ext cx="6812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4572000"/>
            <a:ext cx="91440" cy="5669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5720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760720" y="4572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下游契約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818120" y="45720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傳給下一棒的摘要爛掉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5285232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好處：進化改壞其中任何一層，最壞只是退化、不是整個崩潰。關鍵洞察——fitness 只告訴你「壞了」，不告訴你「哪裡壞了」；分層才能對症下藥。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層分類學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§3 ｜ 落地 src/tools/{interaction_tool_wrapper,retrieval_executor,tool_loader}.py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解法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設計原則：協議 / 策略分離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協議層（Protocol）— 凍結、不准進化亂改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「工具怎麼被呼叫」：函式簽名、參數格式、回傳格式、註冊機制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pPr indent="0" marL="0">
              <a:buNone/>
            </a:pPr>
            <a:r>
              <a:rPr lang="en-US" sz="1400" i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「只能查 user / item / review 這幾種資料」——固定不變，誰都不能改。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49040"/>
            <a:ext cx="109728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136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策略層（Policy）— 自由進化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407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「工具被怎麼使用」：查哪幾種、查幾筆、何時查、怎麼消化、甚至需要什麼新工具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pPr indent="0" marL="0">
              <a:buNone/>
            </a:pPr>
            <a:r>
              <a:rPr lang="en-US" sz="1400" i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「這一輪查 user + review、各取 15 筆、按最近排序」——放手讓進化去試。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好比插座：插座規格是「協議」（固定），要插什麼電器是「策略」（自由）——形狀統一，用法無限。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協議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retrieval_executor.py:28-30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ALLOWED_QUERIES/STRATEGIES（凍結）｜ 策略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agents_evolving.yaml:11-16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retrieval_policy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解法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三層解法總覽 ＋ L0 可觀測性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2951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工具呼叫可觀測性 — 把盲區變訊號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9443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安全地用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把工具呼叫從 LLM 拿走 → 確定性 executor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995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398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安全地造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讓進化發明新工具 — 四道關卡沙箱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109960" cy="1234440"/>
          </a:xfrm>
          <a:prstGeom prst="rect">
            <a:avLst/>
          </a:prstGeom>
          <a:solidFill>
            <a:srgbClr val="EAF7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50292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細節　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呼叫日誌（query_type, ok）→ evaluator 整理成 artifacts → 下一輪突變 prompt 看得到「missing_essential: [user]」這種診斷。純觀測增量、預設行為不變。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interaction_tool_wrapper.py:21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_record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drain_tool_log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openevolve_evaluator.py:31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_summarize_tool_use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L1：clamp executor ＋「白名單 ≠ 沒有進化空間」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374904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queries: [user, item,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review_by_user]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review_sampling: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 recent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k: 15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max_chars_per_result: 6000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49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clamp, don't reject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非法值投影回合法空間，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E9E6B"/>
                </a:solidFill>
              </a:rPr>
              <a:t>永不 raise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。k=999999→50 · 亂掰 query→過濾 · 整個爛掉→退預設。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77640"/>
            <a:ext cx="4846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A33D"/>
                </a:solidFill>
              </a:rPr>
              <a:t>白名單 ≠ 沒空間：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ALLOWED_QUERIES 是「字母表」，policy 是「拼出的句子」。26 字母固定，能寫無限句子。真正的天花板是資料集，不是白名單。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retrieval_executor.py:44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_clamp_int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:140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接線：data_retriever 從「呼叫者」轉「萃取者」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[有 tool]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  ↓ LLM ReAct 呼叫 wrapper ×4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  ↓ 整理成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使用者是 LLM — 會崩潰的那種。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4068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executor 確定性檢索（crew 前）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↓ retrieved_context 注入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[無 tool]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↓ 只萃取 {retrieved_context}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純文字任務 — 不會在工具呼叫上崩潰。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src/flows/serving_flow.py:85-93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 → retrieved_context 注入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simulation_crew.py:42-50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data_retriever 無 tools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L2：四道關卡沙箱 ＋ docstring 共同進化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安全掃描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 import / open / exec / dunder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簽名約定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只認 tool_* + (kit, user_id, item_id)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319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沙箱試跑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749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timeout，壞工具靜默丟棄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319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包裝註冊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749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agent 看到的工具說明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109960" cy="15087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兩個重點　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①「docstring 共同進化」：含糊 docstring → agent 不呼叫 → 零 fitness → 淘汰，可被發現性受進化壓力。② 工具裝在「決策點」psychological_analyst（不是 data_retriever，免得把 L1 剛清掉的崩潰風險請回來）。ReadOnlyKit 只暴露 get_user/get_item/get_reviews。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:120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:156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四關卡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:60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ReadOnlyKit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:164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docstring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simulation_crew.py:53-62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裝給 analyst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可信機制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Val 切分：過擬合照妖鏡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進化會「背答案」——對那幾個 train task 特化但不泛化。disjoint holdout 揪出它。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40680" cy="31089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過擬合（假冠軍）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0.90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0.40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C0453B"/>
                </a:solidFill>
              </a:rPr>
              <a:t>差距 0.50 → 🚨 警報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440680" cy="31089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真泛化（可信）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0.75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0.72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2E9E6B"/>
                </a:solidFill>
              </a:rPr>
              <a:t>差距 0.03 → ✅ 真的學會了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validate-holdout — disjoint 已驗證 overlap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evaluator.py:83-84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OPENEVOLVE_TASK_DIR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scripts/validate_holdout.py:25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切 holdout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create_sampled_dataset.py:8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disjoint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可信機制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MAP-Elites 自訂維度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combined_score 會把兩種極端高手壓成中間值而淘汰。改用兩個分項當 diversity 維度。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2468880"/>
            <a:ext cx="480060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vs feature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0" y="32004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決定誰勝出（fitness）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 × review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只決定座標（多樣性）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0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trade-off 前沿各路精英，雜交出兼顧者。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config/openevolve_config.yaml:85-88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feature_dimensions（8×8）·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openevolve_evaluator.py:47-59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_result(extra_metrics)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協作模式 ②：誠實回報，分數健康 ≠ 功能正確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看似完美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 = </a:t>
            </a:r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0.8452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6B7280"/>
                </a:solidFill>
              </a:rPr>
              <a:t>分數漂亮，沒人會起疑。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228600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主動驗證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直接查 agent.tools → 發現是 </a:t>
            </a:r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兩個真 bug：_safe_import 移除 / @tool 需要 docstring → graceful [] 把失敗藏起來。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1099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分數健康 ≠ 功能正確 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會讓「沒裝上工具」偽裝成「分數正常」。驗證要查功能本身（tools 清單），不能只看分數。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tool_loader.py:139-146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_safe_import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:164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docstring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simulation_crew.py:21-30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graceful []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tests/test_tool_loader.py:185-203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協作模式 ③④：把關不可逆 ＋ 知識互補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3657600"/>
          </a:xfrm>
          <a:prstGeom prst="rect">
            <a:avLst/>
          </a:prstGeom>
          <a:solidFill>
            <a:srgbClr val="F7EC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我把關不可逆操作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Claude 先問我，再做：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PR · brew install · 改系統設定 · 建新 GitHub repo · 裝 LibreOffice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把關「不可逆」是我這一層的核心職責。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40680" cy="36576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人機知識互補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2E9E6B"/>
                </a:solidFill>
              </a:rPr>
              <a:t>我補 Claude：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「Mac 闔蓋會中斷背景進程」（環境知識）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A5BA0"/>
                </a:solidFill>
              </a:rPr>
              <a:t>Claude 補我：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解釋 caffeinate、幫我設定（防睡眠但讓螢幕休息）（工具細節）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兩種知識互補，缺一進化就跑不完。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原則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Git 工作流程 ｜ 完整 50-iter 怎麼跑完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§12.7(b)（nohup + caffeinate）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協作模式 ⑤：分層委派自主（最核心）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我請 Claude 為 OpenEvolve 搭安全框架（L0/L1/L2）——框架到位，我才敢放手。回扣安全憲法。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440680" cy="26517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沒防護的先前實驗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iteration 崩潰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440680" cy="26517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完整架構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次工具呼叫崩潰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我委派自主性的前提，是先建好「最壞只是退化」的護欄。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三層護欄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(L0)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(L1)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(L2) ｜ 數據 §12.7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五個協作模式 · 一頁回顧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提問深化設計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我的開放問題 → 失敗分類學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63347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誠實回報抓 bug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63347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agent.tools == [] 被主動揭露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529584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我把關不可逆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529584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brew / 建 repo 先問再做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81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425696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人機知識互補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4425696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我的環境知識 × Claude 的工具細節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321808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77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3218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分層委派自主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5321808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先搭護欄，才放手讓它進化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哪一個模式，你明天就能用在自己的專案？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五模式完整版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docs/collaboration_workflow_outline.md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（Part 3）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高潮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iter22：三層協作的湧現產物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決定跑 50 iter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caffeinate 跑整夜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828800"/>
            <a:ext cx="35204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 L0/L1/L2 框架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啟動進化、分析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93024" y="18288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828800"/>
            <a:ext cx="352044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2606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進化出 iter22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量化公式（0.842）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109960" cy="187452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 公式（節錄）— 沒人教它，三層協作才長得出來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user_std &lt; 0.7:  predicted = user_mean + 0.55·(item_mean − user_mean)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&lt; 1.0: +0.45·…   elif &lt; 1.3: +0.30·…   else: user_median + 0.20·…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 [1,5] · round 0.5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進化目標檔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 · iter22 數據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§12.7(b)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高潮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iter22「之後」深挖：局部最優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我請 Claude 追了 iter22 的所有衍生子代——結論：之後再沒有更好的後代。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109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109728" cy="8046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37744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段公式 → 5、6 段，加更多參數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109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91840"/>
            <a:ext cx="109728" cy="8046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9184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分項此消彼長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29184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微幅波動，review_generation 反而退化 → 分數停滯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109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06240"/>
            <a:ext cx="109728" cy="8046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三島趨同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420624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把族群分成 3 個獨立演化的「島」；遷移又把 iter22 基因散到三島 → 多樣性塌掉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1099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257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給我的診斷：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是局部最優。OpenEvolve 能「找到」它，但「為什麼停在這、怎麼跳出去」是探勘者結構上做不到的——它沒有「局部最優」這個概念。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島/遷移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config/openevolve_config.yaml:71-78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（num_islands:3, migration）· 數據 design notes §12.7(b)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高潮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連「失敗」也是協作的洞察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次低分崩潰 → 我請 Claude 爬梳資料歸因：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40680" cy="21945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次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YAML 語法壞掉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（full-rewrite 風險，繞過 clamp）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440680" cy="21945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次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rate limit 429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（NVIDIA NIM 限流）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協作不只產出成功，也共同理解失敗——成功與失敗，都是我們三層一起讀懂的。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8/50 低分歸因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§12.7(b) · diff_based_evolution:false 見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openevolve_config.yaml:18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反思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什麼該誰做？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我（Human）親自做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 · 價值判斷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不可逆決策 · 領域/物理知識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交給 Claude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· 驗證 · 分析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 · 誠實回報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93024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交給進化（OpenEvolve）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安全框架內的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大規模探索與發明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我用三條判準分工：可逆性 · 是否需要價值判斷 · 搜尋空間大小。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對應：我→config/*.yaml ｜ Claude→src/ + tests/ ｜ 進化→EVOLVE-BLOCK（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反思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進化能設計 agent，但要防它把自己改壞 → 護欄越往內越強（最壞只是退化）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協議 / 策略分離 + 優雅退化 = 可安全進化的地形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誠實回報 + 人類把關不可逆 = 協作安全地基；分數健康 ≠ 功能正確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50474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好問題驅動好設計；連失敗都能共同理解；不盡信文件、讀原始碼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回到開場：你的 AI 是工具，還是夥伴？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原則出處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§3 分類學 · §4 協議/策略分離 · §12.7 數據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謝謝 · Q &amp; 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真正的產物不只是 0.842 的 agent——</a:t>
            </a: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而是一套「人 + AI + 進化」安全協作的工作流。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3A5BA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　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docs/{collaboration_workflow_outline, teaching_slides_outline, unified_deck_outline, evolution_design_notes}.md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技術深入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三份大綱皆在 docs/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 × AI × 進化 — 協作打造可進化 Agent 系統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2026-06-15T15:34:15Z</dcterms:created>
  <dcterms:modified xsi:type="dcterms:W3CDTF">2026-06-15T15:34:15Z</dcterms:modified>
</cp:coreProperties>
</file>